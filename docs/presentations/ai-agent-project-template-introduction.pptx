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5bbb369100471c" /><Relationship Type="http://schemas.openxmlformats.org/officeDocument/2006/relationships/extended-properties" Target="/docProps/app.xml" Id="R1959f17aacd94279" /><Relationship Type="http://schemas.openxmlformats.org/officeDocument/2006/relationships/officeDocument" Target="/ppt/presentation.xml" Id="R3bf53306d56a4c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eae6b90a104486"/>
  </p:sldMasterIdLst>
  <p:notesMasterIdLst>
    <p:notesMasterId xmlns:r="http://schemas.openxmlformats.org/officeDocument/2006/relationships" r:id="R6f0685c010d24a19"/>
  </p:notesMasterIdLst>
  <p:sldIdLst>
    <p:sldId xmlns:r="http://schemas.openxmlformats.org/officeDocument/2006/relationships" id="256" r:id="Rb275159c6620430c"/>
    <p:sldId xmlns:r="http://schemas.openxmlformats.org/officeDocument/2006/relationships" id="257" r:id="Re57b8335ea424a61"/>
    <p:sldId xmlns:r="http://schemas.openxmlformats.org/officeDocument/2006/relationships" id="258" r:id="R778fbd6d603943d0"/>
    <p:sldId xmlns:r="http://schemas.openxmlformats.org/officeDocument/2006/relationships" id="259" r:id="R47a1c3aea4074fe2"/>
    <p:sldId xmlns:r="http://schemas.openxmlformats.org/officeDocument/2006/relationships" id="260" r:id="Rd30c9f2814764869"/>
    <p:sldId xmlns:r="http://schemas.openxmlformats.org/officeDocument/2006/relationships" id="261" r:id="Rd90a73a1692847c8"/>
    <p:sldId xmlns:r="http://schemas.openxmlformats.org/officeDocument/2006/relationships" id="262" r:id="R11c0063732a84b39"/>
    <p:sldId xmlns:r="http://schemas.openxmlformats.org/officeDocument/2006/relationships" id="263" r:id="Re76865de5add42ff"/>
    <p:sldId xmlns:r="http://schemas.openxmlformats.org/officeDocument/2006/relationships" id="264" r:id="Rc45c1b68f51342d4"/>
    <p:sldId xmlns:r="http://schemas.openxmlformats.org/officeDocument/2006/relationships" id="265" r:id="R5eb74cfb08e34c02"/>
    <p:sldId xmlns:r="http://schemas.openxmlformats.org/officeDocument/2006/relationships" id="266" r:id="R65f42e85aa464e73"/>
    <p:sldId xmlns:r="http://schemas.openxmlformats.org/officeDocument/2006/relationships" id="267" r:id="R635213f8c0ad4002"/>
    <p:sldId xmlns:r="http://schemas.openxmlformats.org/officeDocument/2006/relationships" id="268" r:id="R9ebbbcef719948eb"/>
    <p:sldId xmlns:r="http://schemas.openxmlformats.org/officeDocument/2006/relationships" id="269" r:id="R6ad784bb812343f1"/>
    <p:sldId xmlns:r="http://schemas.openxmlformats.org/officeDocument/2006/relationships" id="270" r:id="Rf5f772751e2f42a8"/>
    <p:sldId xmlns:r="http://schemas.openxmlformats.org/officeDocument/2006/relationships" id="271" r:id="Ra4bee26380ab4dfd"/>
    <p:sldId xmlns:r="http://schemas.openxmlformats.org/officeDocument/2006/relationships" id="272" r:id="R281842a4c79241ab"/>
    <p:sldId xmlns:r="http://schemas.openxmlformats.org/officeDocument/2006/relationships" id="273" r:id="R299041ffd5f74a3d"/>
    <p:sldId xmlns:r="http://schemas.openxmlformats.org/officeDocument/2006/relationships" id="274" r:id="Rce399e230df54047"/>
    <p:sldId xmlns:r="http://schemas.openxmlformats.org/officeDocument/2006/relationships" id="275" r:id="R41ad48965b6e43c4"/>
    <p:sldId xmlns:r="http://schemas.openxmlformats.org/officeDocument/2006/relationships" id="276" r:id="R855faa1691ac4134"/>
    <p:sldId xmlns:r="http://schemas.openxmlformats.org/officeDocument/2006/relationships" id="277" r:id="R101a866859ae425b"/>
    <p:sldId xmlns:r="http://schemas.openxmlformats.org/officeDocument/2006/relationships" id="278" r:id="Rfbc93da504314198"/>
    <p:sldId xmlns:r="http://schemas.openxmlformats.org/officeDocument/2006/relationships" id="279" r:id="R91707c067d69498a"/>
    <p:sldId xmlns:r="http://schemas.openxmlformats.org/officeDocument/2006/relationships" id="280" r:id="R646dd6b5889d4dd8"/>
    <p:sldId xmlns:r="http://schemas.openxmlformats.org/officeDocument/2006/relationships" id="281" r:id="Rde1a0f4ab4124e22"/>
    <p:sldId xmlns:r="http://schemas.openxmlformats.org/officeDocument/2006/relationships" id="282" r:id="R3fcecc5e8c8e49e7"/>
    <p:sldId xmlns:r="http://schemas.openxmlformats.org/officeDocument/2006/relationships" id="283" r:id="R55d6ce0a68e045ec"/>
    <p:sldId xmlns:r="http://schemas.openxmlformats.org/officeDocument/2006/relationships" id="284" r:id="R3a1d18a419de4bb0"/>
    <p:sldId xmlns:r="http://schemas.openxmlformats.org/officeDocument/2006/relationships" id="285" r:id="Racabbf8d53fc4972"/>
    <p:sldId xmlns:r="http://schemas.openxmlformats.org/officeDocument/2006/relationships" id="286" r:id="Rfe9133e5bcb64a12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081f688903441f" /><Relationship Type="http://schemas.openxmlformats.org/officeDocument/2006/relationships/slideMaster" Target="/ppt/slideMasters/slideMaster1.xml" Id="R24eae6b90a104486" /><Relationship Type="http://schemas.openxmlformats.org/officeDocument/2006/relationships/notesMaster" Target="/ppt/notesMasters/notesMaster1.xml" Id="R6f0685c010d24a19" /><Relationship Type="http://schemas.openxmlformats.org/officeDocument/2006/relationships/presProps" Target="/ppt/presProps.xml" Id="Ra9065db1ea084145" /><Relationship Type="http://schemas.openxmlformats.org/officeDocument/2006/relationships/viewProps" Target="/ppt/viewProps.xml" Id="R4f72a78575f04ce3" /><Relationship Type="http://schemas.openxmlformats.org/officeDocument/2006/relationships/tableStyles" Target="/ppt/tableStyles.xml" Id="R0f3e87b453cb4926" /><Relationship Type="http://schemas.openxmlformats.org/officeDocument/2006/relationships/slide" Target="/ppt/slides/slide1.xml" Id="Rb275159c6620430c" /><Relationship Type="http://schemas.openxmlformats.org/officeDocument/2006/relationships/slide" Target="/ppt/slides/slide2.xml" Id="Re57b8335ea424a61" /><Relationship Type="http://schemas.openxmlformats.org/officeDocument/2006/relationships/slide" Target="/ppt/slides/slide3.xml" Id="R778fbd6d603943d0" /><Relationship Type="http://schemas.openxmlformats.org/officeDocument/2006/relationships/slide" Target="/ppt/slides/slide4.xml" Id="R47a1c3aea4074fe2" /><Relationship Type="http://schemas.openxmlformats.org/officeDocument/2006/relationships/slide" Target="/ppt/slides/slide5.xml" Id="Rd30c9f2814764869" /><Relationship Type="http://schemas.openxmlformats.org/officeDocument/2006/relationships/slide" Target="/ppt/slides/slide6.xml" Id="Rd90a73a1692847c8" /><Relationship Type="http://schemas.openxmlformats.org/officeDocument/2006/relationships/slide" Target="/ppt/slides/slide7.xml" Id="R11c0063732a84b39" /><Relationship Type="http://schemas.openxmlformats.org/officeDocument/2006/relationships/slide" Target="/ppt/slides/slide8.xml" Id="Re76865de5add42ff" /><Relationship Type="http://schemas.openxmlformats.org/officeDocument/2006/relationships/slide" Target="/ppt/slides/slide9.xml" Id="Rc45c1b68f51342d4" /><Relationship Type="http://schemas.openxmlformats.org/officeDocument/2006/relationships/slide" Target="/ppt/slides/slide10.xml" Id="R5eb74cfb08e34c02" /><Relationship Type="http://schemas.openxmlformats.org/officeDocument/2006/relationships/slide" Target="/ppt/slides/slide11.xml" Id="R65f42e85aa464e73" /><Relationship Type="http://schemas.openxmlformats.org/officeDocument/2006/relationships/slide" Target="/ppt/slides/slide12.xml" Id="R635213f8c0ad4002" /><Relationship Type="http://schemas.openxmlformats.org/officeDocument/2006/relationships/slide" Target="/ppt/slides/slide13.xml" Id="R9ebbbcef719948eb" /><Relationship Type="http://schemas.openxmlformats.org/officeDocument/2006/relationships/slide" Target="/ppt/slides/slide14.xml" Id="R6ad784bb812343f1" /><Relationship Type="http://schemas.openxmlformats.org/officeDocument/2006/relationships/slide" Target="/ppt/slides/slide15.xml" Id="Rf5f772751e2f42a8" /><Relationship Type="http://schemas.openxmlformats.org/officeDocument/2006/relationships/slide" Target="/ppt/slides/slide16.xml" Id="Ra4bee26380ab4dfd" /><Relationship Type="http://schemas.openxmlformats.org/officeDocument/2006/relationships/slide" Target="/ppt/slides/slide17.xml" Id="R281842a4c79241ab" /><Relationship Type="http://schemas.openxmlformats.org/officeDocument/2006/relationships/slide" Target="/ppt/slides/slide18.xml" Id="R299041ffd5f74a3d" /><Relationship Type="http://schemas.openxmlformats.org/officeDocument/2006/relationships/slide" Target="/ppt/slides/slide19.xml" Id="Rce399e230df54047" /><Relationship Type="http://schemas.openxmlformats.org/officeDocument/2006/relationships/slide" Target="/ppt/slides/slide20.xml" Id="R41ad48965b6e43c4" /><Relationship Type="http://schemas.openxmlformats.org/officeDocument/2006/relationships/slide" Target="/ppt/slides/slide21.xml" Id="R855faa1691ac4134" /><Relationship Type="http://schemas.openxmlformats.org/officeDocument/2006/relationships/slide" Target="/ppt/slides/slide22.xml" Id="R101a866859ae425b" /><Relationship Type="http://schemas.openxmlformats.org/officeDocument/2006/relationships/slide" Target="/ppt/slides/slide23.xml" Id="Rfbc93da504314198" /><Relationship Type="http://schemas.openxmlformats.org/officeDocument/2006/relationships/slide" Target="/ppt/slides/slide24.xml" Id="R91707c067d69498a" /><Relationship Type="http://schemas.openxmlformats.org/officeDocument/2006/relationships/slide" Target="/ppt/slides/slide25.xml" Id="R646dd6b5889d4dd8" /><Relationship Type="http://schemas.openxmlformats.org/officeDocument/2006/relationships/slide" Target="/ppt/slides/slide26.xml" Id="Rde1a0f4ab4124e22" /><Relationship Type="http://schemas.openxmlformats.org/officeDocument/2006/relationships/slide" Target="/ppt/slides/slide27.xml" Id="R3fcecc5e8c8e49e7" /><Relationship Type="http://schemas.openxmlformats.org/officeDocument/2006/relationships/slide" Target="/ppt/slides/slide28.xml" Id="R55d6ce0a68e045ec" /><Relationship Type="http://schemas.openxmlformats.org/officeDocument/2006/relationships/slide" Target="/ppt/slides/slide29.xml" Id="R3a1d18a419de4bb0" /><Relationship Type="http://schemas.openxmlformats.org/officeDocument/2006/relationships/slide" Target="/ppt/slides/slide30.xml" Id="Racabbf8d53fc4972" /><Relationship Type="http://schemas.openxmlformats.org/officeDocument/2006/relationships/slide" Target="/ppt/slides/slide31.xml" Id="Rfe9133e5bcb64a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83463b050d41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fcb39cf1104a22" /><Relationship Type="http://schemas.openxmlformats.org/officeDocument/2006/relationships/notesMaster" Target="/ppt/notesMasters/notesMaster1.xml" Id="R6500558e11784a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2040f538734bfc" /><Relationship Type="http://schemas.openxmlformats.org/officeDocument/2006/relationships/notesMaster" Target="/ppt/notesMasters/notesMaster1.xml" Id="R9f0189645bb24c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71c14450984217" /><Relationship Type="http://schemas.openxmlformats.org/officeDocument/2006/relationships/notesMaster" Target="/ppt/notesMasters/notesMaster1.xml" Id="Rd0eb36f75a3840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d916f10c3b4067" /><Relationship Type="http://schemas.openxmlformats.org/officeDocument/2006/relationships/notesMaster" Target="/ppt/notesMasters/notesMaster1.xml" Id="Rc13b1fe82db942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c577fc0fcd437a" /><Relationship Type="http://schemas.openxmlformats.org/officeDocument/2006/relationships/notesMaster" Target="/ppt/notesMasters/notesMaster1.xml" Id="Re89bbecc7b4747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053d3ccbca4381" /><Relationship Type="http://schemas.openxmlformats.org/officeDocument/2006/relationships/notesMaster" Target="/ppt/notesMasters/notesMaster1.xml" Id="R6cc65083d53447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8ab64450f54c32" /><Relationship Type="http://schemas.openxmlformats.org/officeDocument/2006/relationships/notesMaster" Target="/ppt/notesMasters/notesMaster1.xml" Id="R0e95651b4ed94c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862088f0f3461d" /><Relationship Type="http://schemas.openxmlformats.org/officeDocument/2006/relationships/notesMaster" Target="/ppt/notesMasters/notesMaster1.xml" Id="R437a246200c843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fcc1ae8f034e3b" /><Relationship Type="http://schemas.openxmlformats.org/officeDocument/2006/relationships/notesMaster" Target="/ppt/notesMasters/notesMaster1.xml" Id="R7d069d13759940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9edb10980c4752" /><Relationship Type="http://schemas.openxmlformats.org/officeDocument/2006/relationships/notesMaster" Target="/ppt/notesMasters/notesMaster1.xml" Id="Reb4733fff9704c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890da0818f4c98" /><Relationship Type="http://schemas.openxmlformats.org/officeDocument/2006/relationships/notesMaster" Target="/ppt/notesMasters/notesMaster1.xml" Id="Rebce76c4ca734e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20717e5c95475c" /><Relationship Type="http://schemas.openxmlformats.org/officeDocument/2006/relationships/notesMaster" Target="/ppt/notesMasters/notesMaster1.xml" Id="R11b8685ae08b47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141da387874dae" /><Relationship Type="http://schemas.openxmlformats.org/officeDocument/2006/relationships/notesMaster" Target="/ppt/notesMasters/notesMaster1.xml" Id="Rcc18eed8d1dd4d7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b07f8f1e294d42" /><Relationship Type="http://schemas.openxmlformats.org/officeDocument/2006/relationships/notesMaster" Target="/ppt/notesMasters/notesMaster1.xml" Id="Rabbdc04ca38b452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76c33b7031a46ec" /><Relationship Type="http://schemas.openxmlformats.org/officeDocument/2006/relationships/notesMaster" Target="/ppt/notesMasters/notesMaster1.xml" Id="R047abc2c3a6b41d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8aeb29cba244443" /><Relationship Type="http://schemas.openxmlformats.org/officeDocument/2006/relationships/notesMaster" Target="/ppt/notesMasters/notesMaster1.xml" Id="R03ed2cf40447435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c73816060ea47d2" /><Relationship Type="http://schemas.openxmlformats.org/officeDocument/2006/relationships/notesMaster" Target="/ppt/notesMasters/notesMaster1.xml" Id="R9fcbdab184014df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29cb6f249144a0e" /><Relationship Type="http://schemas.openxmlformats.org/officeDocument/2006/relationships/notesMaster" Target="/ppt/notesMasters/notesMaster1.xml" Id="Rde82c2b2a2884f8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ffba454692949ce" /><Relationship Type="http://schemas.openxmlformats.org/officeDocument/2006/relationships/notesMaster" Target="/ppt/notesMasters/notesMaster1.xml" Id="R37ce74a05ba94ae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ce3a4e8810841b9" /><Relationship Type="http://schemas.openxmlformats.org/officeDocument/2006/relationships/notesMaster" Target="/ppt/notesMasters/notesMaster1.xml" Id="R1dda12faffd0461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84bc8ad62aa4bbc" /><Relationship Type="http://schemas.openxmlformats.org/officeDocument/2006/relationships/notesMaster" Target="/ppt/notesMasters/notesMaster1.xml" Id="R69eeb30251234cd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1cf2444d19b47be" /><Relationship Type="http://schemas.openxmlformats.org/officeDocument/2006/relationships/notesMaster" Target="/ppt/notesMasters/notesMaster1.xml" Id="R1d6eab05e0534e2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704c6bc9f4247f9" /><Relationship Type="http://schemas.openxmlformats.org/officeDocument/2006/relationships/notesMaster" Target="/ppt/notesMasters/notesMaster1.xml" Id="Rcdcf5df87cf94d1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b18bee433e94d7a" /><Relationship Type="http://schemas.openxmlformats.org/officeDocument/2006/relationships/notesMaster" Target="/ppt/notesMasters/notesMaster1.xml" Id="Rb077592384144a2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fd4186a56df4757" /><Relationship Type="http://schemas.openxmlformats.org/officeDocument/2006/relationships/notesMaster" Target="/ppt/notesMasters/notesMaster1.xml" Id="R98929136c088466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52be914ca9c4b6d" /><Relationship Type="http://schemas.openxmlformats.org/officeDocument/2006/relationships/notesMaster" Target="/ppt/notesMasters/notesMaster1.xml" Id="R8902faa04d7d4ed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e0a78eefda44aa7" /><Relationship Type="http://schemas.openxmlformats.org/officeDocument/2006/relationships/notesMaster" Target="/ppt/notesMasters/notesMaster1.xml" Id="R2703cdad51a94ac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ab3b862a6684fc1" /><Relationship Type="http://schemas.openxmlformats.org/officeDocument/2006/relationships/notesMaster" Target="/ppt/notesMasters/notesMaster1.xml" Id="R4ad7d78761964ac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55299faace14a0c" /><Relationship Type="http://schemas.openxmlformats.org/officeDocument/2006/relationships/notesMaster" Target="/ppt/notesMasters/notesMaster1.xml" Id="R4e4bd330b8134c7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56d27e64a284448" /><Relationship Type="http://schemas.openxmlformats.org/officeDocument/2006/relationships/notesMaster" Target="/ppt/notesMasters/notesMaster1.xml" Id="R38ce99fc42f2456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682fdf9ff554587" /><Relationship Type="http://schemas.openxmlformats.org/officeDocument/2006/relationships/notesMaster" Target="/ppt/notesMasters/notesMaster1.xml" Id="Rcbc37e78e0924b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78a1058c5f42c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dac8f245454ffd" /><Relationship Type="http://schemas.openxmlformats.org/officeDocument/2006/relationships/slideLayout" Target="/ppt/slideLayouts/slideLayout1.xml" Id="R604f8b4111c245d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4f8b4111c245d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bb577eb634d5c" /><Relationship Type="http://schemas.openxmlformats.org/officeDocument/2006/relationships/notesSlide" Target="/ppt/notesSlides/notesSlide1.xml" Id="R7f76d2a1bc234d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eb1fdef8d4430" /><Relationship Type="http://schemas.openxmlformats.org/officeDocument/2006/relationships/notesSlide" Target="/ppt/notesSlides/notesSlide2.xml" Id="Rd319d76b3b4a47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4930a91804461" /><Relationship Type="http://schemas.openxmlformats.org/officeDocument/2006/relationships/notesSlide" Target="/ppt/notesSlides/notesSlide3.xml" Id="R59ae603c273044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3e7e3412e4349" /><Relationship Type="http://schemas.openxmlformats.org/officeDocument/2006/relationships/notesSlide" Target="/ppt/notesSlides/notesSlide4.xml" Id="R357360b4ddf942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342a26d8f4fcf" /><Relationship Type="http://schemas.openxmlformats.org/officeDocument/2006/relationships/notesSlide" Target="/ppt/notesSlides/notesSlide5.xml" Id="R2d25b4af354646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90c9bd6a04e85" /><Relationship Type="http://schemas.openxmlformats.org/officeDocument/2006/relationships/notesSlide" Target="/ppt/notesSlides/notesSlide6.xml" Id="R116ba7416e2c42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ccd5735974299" /><Relationship Type="http://schemas.openxmlformats.org/officeDocument/2006/relationships/notesSlide" Target="/ppt/notesSlides/notesSlide7.xml" Id="R6a7392b66fa545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4016d3e3a446a" /><Relationship Type="http://schemas.openxmlformats.org/officeDocument/2006/relationships/notesSlide" Target="/ppt/notesSlides/notesSlide8.xml" Id="Rfd87c487355741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89fabb4654ade" /><Relationship Type="http://schemas.openxmlformats.org/officeDocument/2006/relationships/notesSlide" Target="/ppt/notesSlides/notesSlide9.xml" Id="R12808ff73e1043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c58e5f075420b" /><Relationship Type="http://schemas.openxmlformats.org/officeDocument/2006/relationships/notesSlide" Target="/ppt/notesSlides/notesSlide10.xml" Id="R7a8cbe3a5d3b46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274b997f24bb1" /><Relationship Type="http://schemas.openxmlformats.org/officeDocument/2006/relationships/notesSlide" Target="/ppt/notesSlides/notesSlide11.xml" Id="R7e20e0662c9844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c1b0e9e1c4c63" /><Relationship Type="http://schemas.openxmlformats.org/officeDocument/2006/relationships/notesSlide" Target="/ppt/notesSlides/notesSlide12.xml" Id="Rdac2623fae994a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cfd7dd0474eed" /><Relationship Type="http://schemas.openxmlformats.org/officeDocument/2006/relationships/notesSlide" Target="/ppt/notesSlides/notesSlide13.xml" Id="Rb8adfd1df2734bf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dc9801f564128" /><Relationship Type="http://schemas.openxmlformats.org/officeDocument/2006/relationships/notesSlide" Target="/ppt/notesSlides/notesSlide14.xml" Id="R5fdd41927ff646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2540e07d249f9" /><Relationship Type="http://schemas.openxmlformats.org/officeDocument/2006/relationships/notesSlide" Target="/ppt/notesSlides/notesSlide15.xml" Id="Rdedd678babcf4b7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4799d22ba4514" /><Relationship Type="http://schemas.openxmlformats.org/officeDocument/2006/relationships/notesSlide" Target="/ppt/notesSlides/notesSlide16.xml" Id="R00211a2cbd14437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f9272594648cf" /><Relationship Type="http://schemas.openxmlformats.org/officeDocument/2006/relationships/notesSlide" Target="/ppt/notesSlides/notesSlide17.xml" Id="R4a84ac19824b4b8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1afefd1ee486d" /><Relationship Type="http://schemas.openxmlformats.org/officeDocument/2006/relationships/notesSlide" Target="/ppt/notesSlides/notesSlide18.xml" Id="Rcdbc4d1c98164f8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9d385f5324d27" /><Relationship Type="http://schemas.openxmlformats.org/officeDocument/2006/relationships/notesSlide" Target="/ppt/notesSlides/notesSlide19.xml" Id="R1230d4837f574d4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9a605bdb14707" /><Relationship Type="http://schemas.openxmlformats.org/officeDocument/2006/relationships/notesSlide" Target="/ppt/notesSlides/notesSlide20.xml" Id="R163840f3dcb9453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95d20e3004f8b" /><Relationship Type="http://schemas.openxmlformats.org/officeDocument/2006/relationships/notesSlide" Target="/ppt/notesSlides/notesSlide21.xml" Id="Rd6f8af3d54134ad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bcab11a8445f4" /><Relationship Type="http://schemas.openxmlformats.org/officeDocument/2006/relationships/notesSlide" Target="/ppt/notesSlides/notesSlide22.xml" Id="Rf46468743dfc42f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fc9d0c10e4952" /><Relationship Type="http://schemas.openxmlformats.org/officeDocument/2006/relationships/notesSlide" Target="/ppt/notesSlides/notesSlide23.xml" Id="Rb847bb53057f42f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a8d6066884d1e" /><Relationship Type="http://schemas.openxmlformats.org/officeDocument/2006/relationships/notesSlide" Target="/ppt/notesSlides/notesSlide24.xml" Id="Rac3ad32a5ad14d4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dd425d36b48bb" /><Relationship Type="http://schemas.openxmlformats.org/officeDocument/2006/relationships/notesSlide" Target="/ppt/notesSlides/notesSlide25.xml" Id="R5cb63fb5dba7438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06bd63f214b78" /><Relationship Type="http://schemas.openxmlformats.org/officeDocument/2006/relationships/notesSlide" Target="/ppt/notesSlides/notesSlide26.xml" Id="Re251c5d77d444a0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31293372a4891" /><Relationship Type="http://schemas.openxmlformats.org/officeDocument/2006/relationships/notesSlide" Target="/ppt/notesSlides/notesSlide27.xml" Id="R0ae2bb4433df492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a67fee04440d4" /><Relationship Type="http://schemas.openxmlformats.org/officeDocument/2006/relationships/notesSlide" Target="/ppt/notesSlides/notesSlide28.xml" Id="Rdeefebc1bfe94d6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26c3d86964ff4" /><Relationship Type="http://schemas.openxmlformats.org/officeDocument/2006/relationships/notesSlide" Target="/ppt/notesSlides/notesSlide29.xml" Id="R2d98ea5ac771461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1a05f9e9e4528" /><Relationship Type="http://schemas.openxmlformats.org/officeDocument/2006/relationships/notesSlide" Target="/ppt/notesSlides/notesSlide30.xml" Id="R10982b317912476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385ac8cae4058" /><Relationship Type="http://schemas.openxmlformats.org/officeDocument/2006/relationships/notesSlide" Target="/ppt/notesSlides/notesSlide31.xml" Id="R80349e3d98e547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7A9F150-6BC5-4CAE-ABD8-F797B0E4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251960"/>
            <a:ext cx="713232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2A4A"/>
          </a:solidFill>
          <a:ln xmlns:a="http://schemas.openxmlformats.org/drawingml/2006/main" w="12700">
            <a:solidFill>
              <a:srgbClr val="1E64D8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AF61DD-CAE2-4E37-A2B4-24154EE4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361688"/>
            <a:ext cx="4937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Issue</a:t>
            </a:r>
            <a:endParaRPr sz="12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55E7300-C2C6-43AF-91EB-251FB18D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85432" y="4581144"/>
            <a:ext cx="4754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83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AFF89B1-45BE-4060-8349-11408640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452360" y="3639312"/>
            <a:ext cx="18288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9DB4FF"/>
            </a:solidFill>
            <a:prstDash val="solid"/>
            <a:headEnd type="none"/>
            <a:tailEnd type="triangle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0FC1E5A-A74A-4D35-89EA-D01A3C9D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840480"/>
            <a:ext cx="713232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2A4A"/>
          </a:solidFill>
          <a:ln xmlns:a="http://schemas.openxmlformats.org/drawingml/2006/main" w="12700">
            <a:solidFill>
              <a:srgbClr val="6C4EE6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0EB23D3-2E76-4A94-A921-ED3F0215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950208"/>
            <a:ext cx="4937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6C4EE6"/>
                </a:solidFill>
                <a:latin typeface="Yu Gothic"/>
                <a:ea typeface="Yu Gothic"/>
                <a:cs typeface="Yu Gothic"/>
              </a:rPr>
              <a:t>Spec</a:t>
            </a:r>
            <a:endParaRPr sz="12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1923A34-D6F0-4544-A603-AE99C269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754112" y="4169664"/>
            <a:ext cx="4754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83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67D3449-94CC-4075-AA93-AD9565D9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050792"/>
            <a:ext cx="182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9DB4FF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E404967-CEEA-4BAF-BB7D-FF637D7B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251960"/>
            <a:ext cx="713232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2A4A"/>
          </a:solidFill>
          <a:ln xmlns:a="http://schemas.openxmlformats.org/drawingml/2006/main" w="12700">
            <a:solidFill>
              <a:srgbClr val="00A6A6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32ADBB3-A5AD-4685-94C5-BFD1F23F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4361688"/>
            <a:ext cx="4937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A6A6"/>
                </a:solidFill>
                <a:latin typeface="Yu Gothic"/>
                <a:ea typeface="Yu Gothic"/>
                <a:cs typeface="Yu Gothic"/>
              </a:rPr>
              <a:t>Design</a:t>
            </a:r>
            <a:endParaRPr sz="12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AD5FCDA-5342-433E-B8E2-D6B5FEE5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622792" y="4581144"/>
            <a:ext cx="4754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83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A024C02-E0FF-4D68-A8B6-AB43C586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89720" y="3639312"/>
            <a:ext cx="18288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9DB4FF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1638569-12E4-4ADF-A8F3-8E9587F6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40480"/>
            <a:ext cx="713232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2A4A"/>
          </a:solidFill>
          <a:ln xmlns:a="http://schemas.openxmlformats.org/drawingml/2006/main" w="12700">
            <a:solidFill>
              <a:srgbClr val="2EAD65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04ADAAA-704A-4596-A111-121EE928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328" y="3950208"/>
            <a:ext cx="4937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Code</a:t>
            </a:r>
            <a:endParaRPr sz="12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9EFF823-EB24-4FC4-8FF4-03A1DAA3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491472" y="4169664"/>
            <a:ext cx="4754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83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5970E8F-8F32-4BC4-B18B-0D9BE431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050792"/>
            <a:ext cx="182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9DB4FF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AFE85A1B-7387-4702-B170-C54E6851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4251960"/>
            <a:ext cx="713232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2A4A"/>
          </a:solidFill>
          <a:ln xmlns:a="http://schemas.openxmlformats.org/drawingml/2006/main" w="12700">
            <a:solidFill>
              <a:srgbClr val="F2A100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BA7C684-A670-4126-A546-0057B5DC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4361688"/>
            <a:ext cx="4937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2A100"/>
                </a:solidFill>
                <a:latin typeface="Yu Gothic"/>
                <a:ea typeface="Yu Gothic"/>
                <a:cs typeface="Yu Gothic"/>
              </a:rPr>
              <a:t>Review</a:t>
            </a:r>
            <a:endParaRPr sz="12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517F54D-CFF9-434C-A54D-6D64F296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360152" y="4581144"/>
            <a:ext cx="47548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endParaRPr sz="83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53CE599-8326-487A-BF4B-F78F5ECF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54864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AI Agent</a:t>
            </a:r>
            <a:endParaRPr sz="3100"/>
          </a:p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Project Template</a:t>
            </a:r>
            <a:endParaRPr sz="31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46D61C8-D390-4786-AF75-FEC0476D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31720"/>
            <a:ext cx="539496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D8E6FF"/>
                </a:solidFill>
                <a:latin typeface="Yu Gothic"/>
                <a:ea typeface="Yu Gothic"/>
                <a:cs typeface="Yu Gothic"/>
              </a:rPr>
              <a:t>GitHub Issueを中心に、AIエージェントで</a:t>
            </a:r>
            <a:endParaRPr sz="1550"/>
          </a:p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D8E6FF"/>
                </a:solidFill>
                <a:latin typeface="Yu Gothic"/>
                <a:ea typeface="Yu Gothic"/>
                <a:cs typeface="Yu Gothic"/>
              </a:rPr>
              <a:t>要求・仕様・設計・実装・レビューを安全に回す標準テンプレート</a:t>
            </a:r>
            <a:endParaRPr sz="15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3942B2E-FFA7-43ED-9174-9B3782DD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310128"/>
            <a:ext cx="105156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23E5B"/>
          </a:solidFill>
          <a:ln xmlns:a="http://schemas.openxmlformats.org/drawingml/2006/main" w="12700">
            <a:solidFill>
              <a:srgbClr val="123E5B">
                <a:alpha val="0"/>
              </a:srgbClr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939C629-F81D-4C2E-876E-F5BEA3BA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383280"/>
            <a:ext cx="90525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0A6A6"/>
                </a:solidFill>
                <a:latin typeface="Yu Gothic"/>
                <a:ea typeface="Yu Gothic"/>
                <a:cs typeface="Yu Gothic"/>
              </a:rPr>
              <a:t>導入効果</a:t>
            </a:r>
            <a:endParaRPr sz="8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6212578-2318-4608-A071-531B6FB7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767328"/>
            <a:ext cx="50292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EAF2FF"/>
                </a:solidFill>
                <a:latin typeface="Yu Gothic"/>
                <a:ea typeface="Yu Gothic"/>
                <a:cs typeface="Yu Gothic"/>
              </a:rPr>
              <a:t>暗黙知をリポジトリに固定し、エージェント交代・中断・レビュー差し戻しに強い開発運用へ移行する。</a:t>
            </a:r>
            <a:endParaRPr sz="1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E150989-7E13-4346-B6CE-57B8C938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163056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DB4FF"/>
                </a:solidFill>
                <a:latin typeface="Yu Gothic"/>
                <a:ea typeface="Yu Gothic"/>
                <a:cs typeface="Yu Gothic"/>
              </a:rPr>
              <a:t>この資料だけで、目的・構成・導入・更新・運用ルールが分かる構成</a:t>
            </a:r>
            <a:endParaRPr sz="10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343D598-4910-48E5-860E-B8E1FF61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1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817035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83B6798-4946-46C5-AB36-DE47E9D5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38C4EF3-C908-41DE-9001-CA0A91CB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C5027C5-83A2-47D1-9E03-910B482A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AUDIENCE / SCOPE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9FC6272-BD4C-4004-B216-3FF5527E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この資料だけで分かること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4610F38-E4F5-431D-95D0-31F0059E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導入担当・開発者・レビュー担当が、READMEを開かなくても運用全体を判断できることを目的にする。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E1068B9-7E87-44DD-855F-2C4B45F0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2</a:t>
            </a:r>
            <a:endParaRPr sz="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5076592-7AB2-4144-8103-7F9B1B31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521208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1E64D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E76027D-3736-44A6-83A2-59769A91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527048"/>
            <a:ext cx="49194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対象読者</a:t>
            </a:r>
            <a:endParaRPr sz="11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BE407C1-157B-474A-AE00-F293F3CF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828800"/>
            <a:ext cx="49194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AIコーディングエージェントをプロジェクトへ導入する人、既存開発プロセスをIssue駆動へ整理したい人、テンプレートを複数repoへ展開・保守する人。</a:t>
            </a:r>
            <a:endParaRPr sz="92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64CE6DC-50AF-4747-AA37-0EE7508A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21208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12700">
            <a:solidFill>
              <a:srgbClr val="6C4EE6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54525BD-C8B0-4E18-A576-2D7C9681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1527048"/>
            <a:ext cx="49194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6C4EE6"/>
                </a:solidFill>
                <a:latin typeface="Yu Gothic"/>
                <a:ea typeface="Yu Gothic"/>
                <a:cs typeface="Yu Gothic"/>
              </a:rPr>
              <a:t>この資料で扱う範囲</a:t>
            </a:r>
            <a:endParaRPr sz="11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AD91EAB-9B6E-4E7D-BD1F-A5913BC6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1828800"/>
            <a:ext cx="49194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目的 / 導入効果 / 必要環境 / repository構成 / phase workflow / spec・design品質 / scripts / self-review / 導入 / 更新 / 既存repo移行 / troubleshooting。</a:t>
            </a:r>
            <a:endParaRPr sz="92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ECD0280-6F28-4EC1-838A-7FA9C707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8036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読み終えた時にできること</a:t>
            </a:r>
            <a:endParaRPr sz="17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37A70F1-1304-481D-A112-9021937A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929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AD65"/>
          </a:solidFill>
          <a:ln xmlns:a="http://schemas.openxmlformats.org/drawingml/2006/main" w="12700">
            <a:solidFill>
              <a:srgbClr val="2EAD65">
                <a:alpha val="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20A2BE4-56E2-4DDC-A179-E37BE501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401568"/>
            <a:ext cx="99852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7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自分のプロジェクトが導入可能か、必要ツール・権限・OS条件から判断できる</a:t>
            </a:r>
            <a:endParaRPr sz="117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8398C59-5738-48B7-B120-ABCA2E37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7248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AD65"/>
          </a:solidFill>
          <a:ln xmlns:a="http://schemas.openxmlformats.org/drawingml/2006/main" w="12700">
            <a:solidFill>
              <a:srgbClr val="2EAD65">
                <a:alpha val="0"/>
              </a:srgbClr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DE7A9CE-22A2-42DC-B10D-326D4A87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794760"/>
            <a:ext cx="99852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7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AIエージェントへ依頼した時、IssueからPRまで何が起きるか説明できる</a:t>
            </a:r>
            <a:endParaRPr sz="117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67DE296-9F49-465D-A184-73461171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567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AD65"/>
          </a:solidFill>
          <a:ln xmlns:a="http://schemas.openxmlformats.org/drawingml/2006/main" w="12700">
            <a:solidFill>
              <a:srgbClr val="2EAD65">
                <a:alpha val="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E7095DF-3573-4C96-B322-A80E4790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187952"/>
            <a:ext cx="99852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7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仕様書と設計書をどこまで書けば「実装前の合意」として十分か判断できる</a:t>
            </a:r>
            <a:endParaRPr sz="117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5A50F23-32B9-4A04-A2C5-BC7569D0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58868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AD65"/>
          </a:solidFill>
          <a:ln xmlns:a="http://schemas.openxmlformats.org/drawingml/2006/main" w="12700">
            <a:solidFill>
              <a:srgbClr val="2EAD65">
                <a:alpha val="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F9FF7EE-6013-4F7D-8C30-DD9AC0F8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581144"/>
            <a:ext cx="99852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7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テンプレート改善を既存プロジェクトへどう安全に反映するか判断できる</a:t>
            </a:r>
            <a:endParaRPr sz="117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6CFEC18-F21C-445E-A481-8AC85171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5206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AD65"/>
          </a:solidFill>
          <a:ln xmlns:a="http://schemas.openxmlformats.org/drawingml/2006/main" w="12700">
            <a:solidFill>
              <a:srgbClr val="2EAD65">
                <a:alpha val="0"/>
              </a:srgbClr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732BF9D-973B-4E11-B8C7-8B80870F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974336"/>
            <a:ext cx="99852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7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失敗時にどの状態・ファイル・コマンドを確認すればよいか分かる</a:t>
            </a:r>
            <a:endParaRPr sz="117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3D071C2-4234-4385-B8BE-AA5D465E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89320"/>
            <a:ext cx="10058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前提: 本テンプレートはGitHub Issue / Pull Requestをworkflowの状態管理に使う。AI製品自体は固定しない。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9562065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3D353CE-D5E5-47FE-BA09-F07EC786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251BCDD-F382-4B34-8B8D-4DDD1814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213EED7-CA9E-4E0A-B6D3-49D247EB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PREREQUISITES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C395DA2-918F-4B3C-A34A-CE9FF8A9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事前準備・動作環境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CE89A76-9241-4A55-8BA7-B994112C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共通workflowはOS非依存。GitHub操作と技術別build/testに必要なtoolchainだけを事前に揃える。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B15B2B-BDB6-48A0-ACEF-94EA6266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3</a:t>
            </a:r>
            <a:endParaRPr sz="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ED51BA3-CE43-4364-AB50-A2F4CBFC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25880"/>
            <a:ext cx="2331720" cy="420624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1430">
            <a:solidFill>
              <a:srgbClr val="1E64D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E26FB72-FF3E-4B19-9641-44EA4ED5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35608"/>
            <a:ext cx="2057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OS / Shell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69BBF44-A48D-4EF5-AD09-851746A1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380744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macOS・Linux: Bash系 / Windows: PowerShell</a:t>
            </a:r>
            <a:endParaRPr sz="108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0590A96-D080-45EE-9BE7-8E44C7F3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84248"/>
            <a:ext cx="2331720" cy="420624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11430">
            <a:solidFill>
              <a:srgbClr val="6C4EE6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800D71C-DF19-4842-B2C4-D5411A99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93976"/>
            <a:ext cx="2057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6C4EE6"/>
                </a:solidFill>
                <a:latin typeface="Yu Gothic"/>
                <a:ea typeface="Yu Gothic"/>
                <a:cs typeface="Yu Gothic"/>
              </a:rPr>
              <a:t>Git / GitHub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777BDC0-C220-4D08-A830-BD37C820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03911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Git repository + GitHub remote。Issue / PR / labels を利用。</a:t>
            </a:r>
            <a:endParaRPr sz="108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E83E1E9-0A21-484F-9AB6-103F1EBB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42616"/>
            <a:ext cx="2331720" cy="420624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6FAFA"/>
          </a:solidFill>
          <a:ln xmlns:a="http://schemas.openxmlformats.org/drawingml/2006/main" w="11430">
            <a:solidFill>
              <a:srgbClr val="00A6A6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45607A8-00DF-48AD-B0A4-DE2A7297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52344"/>
            <a:ext cx="2057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A6A6"/>
                </a:solidFill>
                <a:latin typeface="Yu Gothic"/>
                <a:ea typeface="Yu Gothic"/>
                <a:cs typeface="Yu Gothic"/>
              </a:rPr>
              <a:t>GitHub CLI</a:t>
            </a: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362A21B-F09B-458B-A627-4B6DA781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697480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`gh` を認証済みにする。Issue/PR/label/milestone操作に使用。</a:t>
            </a:r>
            <a:endParaRPr sz="108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B9DD8C6-A413-4C94-817C-AE87DCD5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00984"/>
            <a:ext cx="2331720" cy="420624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11430">
            <a:solidFill>
              <a:srgbClr val="2EAD65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314C954-06FE-439C-915C-D84FFF4E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410712"/>
            <a:ext cx="2057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Python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07AB857-CC18-454D-91CC-E7AC8995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355848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Python 3.10+ 推奨。共通ロジック `agent_tool.py` を実行。</a:t>
            </a:r>
            <a:endParaRPr sz="108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5F3455F-AF84-4C4A-AB0C-7F8CE799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59352"/>
            <a:ext cx="2331720" cy="420624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1430">
            <a:solidFill>
              <a:srgbClr val="F2A100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FEAFAE6-798B-4970-83FF-335D8D24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69080"/>
            <a:ext cx="2057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2A100"/>
                </a:solidFill>
                <a:latin typeface="Yu Gothic"/>
                <a:ea typeface="Yu Gothic"/>
                <a:cs typeface="Yu Gothic"/>
              </a:rPr>
              <a:t>AI Agent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CD92F18-E890-49E5-8AB2-B9F98B65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014216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Codex / Claude Code / Gemini系など。共通正本は `AGENTS.md`。</a:t>
            </a:r>
            <a:endParaRPr sz="108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0CCEBDE-DE68-4955-B15F-9E7E6BCE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17720"/>
            <a:ext cx="2331720" cy="420624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1430">
            <a:solidFill>
              <a:srgbClr val="D94545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437EEE0-488C-4CC1-826D-17399492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27448"/>
            <a:ext cx="2057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D94545"/>
                </a:solidFill>
                <a:latin typeface="Yu Gothic"/>
                <a:ea typeface="Yu Gothic"/>
                <a:cs typeface="Yu Gothic"/>
              </a:rPr>
              <a:t>Network</a:t>
            </a:r>
            <a:endParaRPr sz="10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50A3424-E4E1-4C2E-B3AC-841A6BB1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672584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GitHub、push/pull、依存取得が必要な処理で利用。</a:t>
            </a:r>
            <a:endParaRPr sz="108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457B34A-27D4-41AC-89F1-5A1962A6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440680"/>
            <a:ext cx="10149840" cy="77724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2700">
            <a:solidFill>
              <a:srgbClr val="202A3A">
                <a:alpha val="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B64C432-D7E3-4A5B-9448-0451460B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59552"/>
            <a:ext cx="9875520" cy="557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# macOS / Linux</a:t>
            </a:r>
            <a:endParaRPr sz="840"/>
          </a:p>
          <a:p xmlns:a="http://schemas.openxmlformats.org/drawingml/2006/main">
            <a:pPr marL="0" indent="0">
              <a:buNone/>
            </a:pPr>
            <a:r>
              <a:rPr sz="84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git --version &amp;&amp; gh --version &amp;&amp; python3 --version &amp;&amp; gh auth status</a:t>
            </a:r>
            <a:endParaRPr sz="840"/>
          </a:p>
          <a:p xmlns:a="http://schemas.openxmlformats.org/drawingml/2006/main">
            <a:pPr marL="0" indent="0">
              <a:buNone/>
            </a:pPr>
            <a:r>
              <a:rPr sz="84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# Windows PowerShell</a:t>
            </a:r>
            <a:endParaRPr sz="840"/>
          </a:p>
          <a:p xmlns:a="http://schemas.openxmlformats.org/drawingml/2006/main">
            <a:pPr marL="0" indent="0">
              <a:buNone/>
            </a:pPr>
            <a:r>
              <a:rPr sz="84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git --version; gh --version; python --version; gh auth status</a:t>
            </a:r>
            <a:endParaRPr sz="840"/>
          </a:p>
        </p:txBody>
      </p:sp>
    </p:spTree>
    <p:extLst>
      <p:ext uri="{BB962C8B-B14F-4D97-AF65-F5344CB8AC3E}">
        <p14:creationId xmlns:p14="http://schemas.microsoft.com/office/powerpoint/2010/main" val="11908618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4113593-9105-448E-B649-17402D70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6B41065-0484-429A-9133-3CAD6108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6F5B209-0FEB-4BB7-870E-235EB6F2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PRE-FLIGHT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BA43B27-ED39-4C4E-9753-09EF5BEE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導入前チェックリスト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3C81B71-791A-412C-A7B1-4D851E2F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ここを通れば、init-projectとGitHub setupを安全に開始できる。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F3EFEBE-6BAB-4A30-AB78-B454B725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4</a:t>
            </a:r>
            <a:endParaRPr sz="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462534B-EB3A-44D3-BB48-378A2395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5212080" cy="118872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1E64D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A01B3F8-200B-4901-9D61-D92871D3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527048"/>
            <a:ext cx="49194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GitHub権限</a:t>
            </a:r>
            <a:endParaRPr sz="11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07102B5-6994-4DED-97B0-7DB801B5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828800"/>
            <a:ext cx="491947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Issue作成/編集、label参照/更新、PR作成/参照、branch push。setup-github利用時はlabel作成権限、milestone利用時はmilestone操作権限も必要。</a:t>
            </a:r>
            <a:endParaRPr sz="92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5ACD143-DD9D-4C98-A48D-A631B842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212080" cy="118872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12700">
            <a:solidFill>
              <a:srgbClr val="2EAD65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B8ADE29-1715-4331-BD5C-5CB5163E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1527048"/>
            <a:ext cx="49194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Repository状態</a:t>
            </a:r>
            <a:endParaRPr sz="11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A835673-6A90-4281-B37F-FA0F96D4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1828800"/>
            <a:ext cx="491947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ローカルGit repository、originが対象GitHub repo、ghでアクセス可能。source branch開始時はclean worktreeが必要。</a:t>
            </a:r>
            <a:endParaRPr sz="9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5579DA0-D714-4557-A747-700D0454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5212080" cy="118872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12700">
            <a:solidFill>
              <a:srgbClr val="6C4EE6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3574D6D-9A83-4567-96EF-019A28A0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127248"/>
            <a:ext cx="49194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6C4EE6"/>
                </a:solidFill>
                <a:latin typeface="Yu Gothic"/>
                <a:ea typeface="Yu Gothic"/>
                <a:cs typeface="Yu Gothic"/>
              </a:rPr>
              <a:t>Stack toolchain</a:t>
            </a:r>
            <a:endParaRPr sz="11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58C80FA-4C5E-4247-BF66-797A9B1C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429000"/>
            <a:ext cx="491947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RustならCargo、NodeならNode/npm、Pythonならproject dependencies、.NETなら.NET SDK。Mixed stackは必要なtoolchainをすべて用意。</a:t>
            </a:r>
            <a:endParaRPr sz="92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D1F8D4B-7D04-4613-97A5-B3C8CEB3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017520"/>
            <a:ext cx="5212080" cy="118872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2700">
            <a:solidFill>
              <a:srgbClr val="D94545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CF191EA-C3AD-4916-8C62-857629A4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127248"/>
            <a:ext cx="49194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D94545"/>
                </a:solidFill>
                <a:latin typeface="Yu Gothic"/>
                <a:ea typeface="Yu Gothic"/>
                <a:cs typeface="Yu Gothic"/>
              </a:rPr>
              <a:t>Security</a:t>
            </a:r>
            <a:endParaRPr sz="11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C256175-8A1F-4902-8BBC-BA19B218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429000"/>
            <a:ext cx="491947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token/API keyをrepoへ保存しない。`.agent-state/` はgitignore。logs/checkpointへ秘密情報・個人情報・不要な絶対pathを残さない。</a:t>
            </a:r>
            <a:endParaRPr sz="9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7EF0090-33F8-4012-9F7B-B52741A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46320"/>
            <a:ext cx="10058400" cy="77724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2700">
            <a:solidFill>
              <a:srgbClr val="202A3A">
                <a:alpha val="0"/>
              </a:srgbClr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282B92F-61DE-4A2E-98C8-D497A489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965192"/>
            <a:ext cx="9784080" cy="557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gh auth login</a:t>
            </a:r>
            <a:endParaRPr sz="90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./scripts/agent/init-project.sh</a:t>
            </a:r>
            <a:endParaRPr sz="90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./scripts/agent/setup-github.sh</a:t>
            </a:r>
            <a:endParaRPr sz="9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D5DB944-65C9-46B7-B671-9FDE67A9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89320"/>
            <a:ext cx="10058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GitLab等へ適用する場合: phase model / docs model / hook modelは再利用可能だが、`gh`依存のIssue/PR操作はadapterが必要。</a:t>
            </a:r>
            <a:endParaRPr sz="1120"/>
          </a:p>
        </p:txBody>
      </p:sp>
    </p:spTree>
    <p:extLst>
      <p:ext uri="{BB962C8B-B14F-4D97-AF65-F5344CB8AC3E}">
        <p14:creationId xmlns:p14="http://schemas.microsoft.com/office/powerpoint/2010/main" val="3169371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10C58CD-A815-4CED-A429-5BAB8D0A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73DEF8E-B487-432B-8AD0-1EEDB345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73298D9-515A-4277-A46D-2C1130B5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WHY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878F31C-5193-4798-9F04-DDFC723C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なぜテンプレート化するのか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C25E576-29B7-419E-A768-506F4A5C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AIエージェント開発は速い一方で、判断根拠・フェーズ・検証が散らばると手戻りが増える。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C834117-304A-4B6F-B1BC-E4AF17D7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5</a:t>
            </a:r>
            <a:endParaRPr sz="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23D757B-B01E-4C54-91C7-9F0B28F2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320040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2700">
            <a:solidFill>
              <a:srgbClr val="D9454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D4FBEB4-9D27-4142-B465-EAB79C00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572768"/>
            <a:ext cx="29077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D94545"/>
                </a:solidFill>
                <a:latin typeface="Yu Gothic"/>
                <a:ea typeface="Yu Gothic"/>
                <a:cs typeface="Yu Gothic"/>
              </a:rPr>
              <a:t>よく起きる失敗</a:t>
            </a:r>
            <a:endParaRPr sz="11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77BCAE9-EB40-4938-8E82-7D439E32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74520"/>
            <a:ext cx="29077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依頼直後に実装へ入り、要求・非ゴール・互換性・レビュー観点が後から発覚する。</a:t>
            </a:r>
            <a:endParaRPr sz="92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2088DAE-23C3-4A03-8450-BF40D681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463040"/>
            <a:ext cx="320040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2700">
            <a:solidFill>
              <a:srgbClr val="F2A100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FCE78CB-CC38-4794-A747-5F93A8CD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1572768"/>
            <a:ext cx="29077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2A100"/>
                </a:solidFill>
                <a:latin typeface="Yu Gothic"/>
                <a:ea typeface="Yu Gothic"/>
                <a:cs typeface="Yu Gothic"/>
              </a:rPr>
              <a:t>コンテキスト消費</a:t>
            </a:r>
            <a:endParaRPr sz="11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C8343EF-B209-4BC2-BDD9-B75D338E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1874520"/>
            <a:ext cx="29077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仕様・設計・現状・ログを毎回読み直し、必要な文書と不要な文書の区別がつかない。</a:t>
            </a:r>
            <a:endParaRPr sz="9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39C5478-F7F0-404B-A875-C62B2156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463040"/>
            <a:ext cx="320040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12700">
            <a:solidFill>
              <a:srgbClr val="6C4EE6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B2EA775-3572-4410-B0EB-D2C260CA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572768"/>
            <a:ext cx="29077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6C4EE6"/>
                </a:solidFill>
                <a:latin typeface="Yu Gothic"/>
                <a:ea typeface="Yu Gothic"/>
                <a:cs typeface="Yu Gothic"/>
              </a:rPr>
              <a:t>レビューの不安定化</a:t>
            </a:r>
            <a:endParaRPr sz="11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FD1CFC5-3A8A-49A1-8674-580C83CE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1874520"/>
            <a:ext cx="29077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セルフレビューが会話上の記憶に依存し、commit後のHEADや差分全体に固定されない。</a:t>
            </a:r>
            <a:endParaRPr sz="92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FF5C345-39FC-4477-BF9F-68C23F00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834640"/>
            <a:ext cx="0" cy="1005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A266D274-890D-4CB5-B8E8-EB9E953B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834640"/>
            <a:ext cx="0" cy="1005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FF43869-DA13-49F8-86A5-E1A101C2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2834640"/>
            <a:ext cx="0" cy="1005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76AD1A4-F604-465D-9D3C-8FD1D398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977640"/>
            <a:ext cx="9784080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1E64D8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91F27EF-DA76-42B7-9104-BC6AFB55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44" y="4087368"/>
            <a:ext cx="94914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テンプレートで固定すること</a:t>
            </a:r>
            <a:endParaRPr sz="11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86EC7B0-7977-43C9-BE68-A2F07950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44" y="4389120"/>
            <a:ext cx="949147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Issue所有・phase遷移・仕様/設計の責務・技術別hook・セルフレビュー検証を、リポジトリ内の標準手順にする。</a:t>
            </a:r>
            <a:endParaRPr sz="92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4E68FAB-A9E4-4DC3-AE86-9A9AB8F6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51840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AD65"/>
          </a:solidFill>
          <a:ln xmlns:a="http://schemas.openxmlformats.org/drawingml/2006/main" w="12700">
            <a:solidFill>
              <a:srgbClr val="2EAD65">
                <a:alpha val="0"/>
              </a:srgbClr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50ECEF6-F3A7-4680-9362-BC5C0FE4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5440680"/>
            <a:ext cx="89794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エージェントの種類が変わっても、開始地点と判断順序が同じになる</a:t>
            </a:r>
            <a:endParaRPr sz="12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598E510-4E3E-460C-B11E-4454F877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847588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AD65"/>
          </a:solidFill>
          <a:ln xmlns:a="http://schemas.openxmlformats.org/drawingml/2006/main" w="12700">
            <a:solidFill>
              <a:srgbClr val="2EAD65">
                <a:alpha val="0"/>
              </a:srgbClr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83F2957-D1A3-4E3A-A644-2B777BAB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5769864"/>
            <a:ext cx="89794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仕様書・設計書が「実装後の説明」ではなく「実装前の合意」になる</a:t>
            </a:r>
            <a:endParaRPr sz="12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62CAE66-D158-443E-9781-D01FA4FA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617677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AD65"/>
          </a:solidFill>
          <a:ln xmlns:a="http://schemas.openxmlformats.org/drawingml/2006/main" w="12700">
            <a:solidFill>
              <a:srgbClr val="2EAD65">
                <a:alpha val="0"/>
              </a:srgbClr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D52C878-5C77-49FF-86DE-E6DBDD82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072" y="6099048"/>
            <a:ext cx="89794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PR作成前の完了条件が明確になり、レビューで見落としにくくなる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5034360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2FA393-8051-4946-BE7A-83AD52EC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8C51033-1B0E-49A7-956C-08E432BB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E9610A6-F753-4372-BD5F-E82F87D6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EFFECT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FFE3923-992F-4DCB-A24B-6B92C4B5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導入効果：AIの速度を再現可能な開発プロセスへ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DD8F49E-06FF-4AF8-934E-5A4160D6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効果はコード生成速度そのものより、手戻り・文書ズレ・レビュー漏れ・引き継ぎコストの削減に出る。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AD51DB6-EA70-440D-8BB2-2F8C62F3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6</a:t>
            </a:r>
            <a:endParaRPr sz="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AB2DAC8-9D19-4E50-8A3D-0CE499A2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D94545"/>
                </a:solidFill>
                <a:latin typeface="Yu Gothic"/>
                <a:ea typeface="Yu Gothic"/>
                <a:cs typeface="Yu Gothic"/>
              </a:rPr>
              <a:t>Before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5191D90-ABD2-4C89-AE27-0D29F0E2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0876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After</a:t>
            </a:r>
            <a:endParaRPr sz="18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1693D4B-9EF3-411C-A642-ACCF479A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3512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545"/>
          </a:solidFill>
          <a:ln xmlns:a="http://schemas.openxmlformats.org/drawingml/2006/main" w="12700">
            <a:solidFill>
              <a:srgbClr val="D94545">
                <a:alpha val="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CA3EB7F-8C0E-4D9C-B746-6ED8D377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057400"/>
            <a:ext cx="413308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依頼文から直接実装</a:t>
            </a:r>
            <a:endParaRPr sz="12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CBDB9D7-17F3-4003-A2BB-ADA4BAE5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2831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545"/>
          </a:solidFill>
          <a:ln xmlns:a="http://schemas.openxmlformats.org/drawingml/2006/main" w="12700">
            <a:solidFill>
              <a:srgbClr val="D94545">
                <a:alpha val="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0BCD1BE-EEDA-4B1F-8BD6-2FF70954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450592"/>
            <a:ext cx="413308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会話ログに意思決定が残る</a:t>
            </a:r>
            <a:endParaRPr sz="12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E5F4DFC-C35D-4C36-AAA5-476A604D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21508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545"/>
          </a:solidFill>
          <a:ln xmlns:a="http://schemas.openxmlformats.org/drawingml/2006/main" w="12700">
            <a:solidFill>
              <a:srgbClr val="D94545">
                <a:alpha val="0"/>
              </a:srgbClr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5C13953-D794-45F5-84DC-C3255ADC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843784"/>
            <a:ext cx="413308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検証コマンドが人・環境で揺れる</a:t>
            </a:r>
            <a:endParaRPr sz="12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48EF37D-AE16-4469-B307-2F1D6FD9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1470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545"/>
          </a:solidFill>
          <a:ln xmlns:a="http://schemas.openxmlformats.org/drawingml/2006/main" w="12700">
            <a:solidFill>
              <a:srgbClr val="D94545">
                <a:alpha val="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4EFB596-8B2F-47E5-9B23-801210DE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236976"/>
            <a:ext cx="413308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PR本文が調査ログ化する</a:t>
            </a:r>
            <a:endParaRPr sz="122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4600515-DE06-43CE-868A-4C51F381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0789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545"/>
          </a:solidFill>
          <a:ln xmlns:a="http://schemas.openxmlformats.org/drawingml/2006/main" w="12700">
            <a:solidFill>
              <a:srgbClr val="D94545">
                <a:alpha val="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F44B866-EBDA-480B-8E62-C20129B7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3630168"/>
            <a:ext cx="413308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中断後に再調査が増える</a:t>
            </a:r>
            <a:endParaRPr sz="12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0288383-BA22-4283-9C94-16DD23E0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13512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AD65"/>
          </a:solidFill>
          <a:ln xmlns:a="http://schemas.openxmlformats.org/drawingml/2006/main" w="12700">
            <a:solidFill>
              <a:srgbClr val="2EAD65">
                <a:alpha val="0"/>
              </a:srgbClr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741158A-0766-44DB-BFA3-8A138E5E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2057400"/>
            <a:ext cx="43159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Issueでscope/acceptanceを固定</a:t>
            </a:r>
            <a:endParaRPr sz="122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81E1AEE-E3C4-4B65-903F-DFA959AE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52831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AD65"/>
          </a:solidFill>
          <a:ln xmlns:a="http://schemas.openxmlformats.org/drawingml/2006/main" w="12700">
            <a:solidFill>
              <a:srgbClr val="2EAD65">
                <a:alpha val="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2DFBF81-F6E3-4360-823E-2B18278B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2450592"/>
            <a:ext cx="43159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spec/design/statusに責務分離</a:t>
            </a:r>
            <a:endParaRPr sz="122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28E4898-076F-4E34-B547-4AA5345A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921508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AD65"/>
          </a:solidFill>
          <a:ln xmlns:a="http://schemas.openxmlformats.org/drawingml/2006/main" w="12700">
            <a:solidFill>
              <a:srgbClr val="2EAD65">
                <a:alpha val="0"/>
              </a:srgbClr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2DAD775-B458-4207-95E1-60B68198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2843784"/>
            <a:ext cx="43159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project profile hookで検証を固定</a:t>
            </a:r>
            <a:endParaRPr sz="122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DA9E20E-D9F9-4787-AD06-AEF9986F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1470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AD65"/>
          </a:solidFill>
          <a:ln xmlns:a="http://schemas.openxmlformats.org/drawingml/2006/main" w="12700">
            <a:solidFill>
              <a:srgbClr val="2EAD65">
                <a:alpha val="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66BCBDA-21F8-4AA0-BFAD-86A4220B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3236976"/>
            <a:ext cx="43159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PRはdelta/evidence中心</a:t>
            </a:r>
            <a:endParaRPr sz="122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AC0A8275-836A-4C3B-88B0-5E3E57CE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70789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AD65"/>
          </a:solidFill>
          <a:ln xmlns:a="http://schemas.openxmlformats.org/drawingml/2006/main" w="12700">
            <a:solidFill>
              <a:srgbClr val="2EAD65">
                <a:alpha val="0"/>
              </a:srgbClr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D8069B2-4588-482D-AB78-B8E81024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3630168"/>
            <a:ext cx="43159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checkpoint/contextで再開可能</a:t>
            </a:r>
            <a:endParaRPr sz="122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C81F5855-4096-440A-A8F4-992712D6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971800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1E64D8"/>
            </a:solidFill>
            <a:prstDash val="solid"/>
            <a:headEnd type="none"/>
            <a:tailEnd type="triangle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648A3F7-751C-4743-A3B9-50120A34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6360"/>
            <a:ext cx="2286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要求の後出し</a:t>
            </a:r>
            <a:endParaRPr sz="10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A473ED8-68A4-4983-BAD7-96A54E52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202936"/>
            <a:ext cx="192024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F2"/>
          </a:solidFill>
          <a:ln xmlns:a="http://schemas.openxmlformats.org/drawingml/2006/main" w="12700">
            <a:solidFill>
              <a:srgbClr val="E4EAF2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B649877B-5741-4152-A98A-DCDB158E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202936"/>
            <a:ext cx="1632204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545"/>
          </a:solidFill>
          <a:ln xmlns:a="http://schemas.openxmlformats.org/drawingml/2006/main" w="12700">
            <a:solidFill>
              <a:srgbClr val="D94545">
                <a:alpha val="0"/>
              </a:srgbClr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4E6FCD18-18B9-46D1-ADBB-DEEBBF78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32120"/>
            <a:ext cx="2286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文書と実装のズレ</a:t>
            </a:r>
            <a:endParaRPr sz="10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7D45A05-10F6-4607-88DD-56058322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568696"/>
            <a:ext cx="192024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F2"/>
          </a:solidFill>
          <a:ln xmlns:a="http://schemas.openxmlformats.org/drawingml/2006/main" w="12700">
            <a:solidFill>
              <a:srgbClr val="E4EAF2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6B8FD9C4-F65D-4AEE-BBA9-050F419C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568696"/>
            <a:ext cx="1536192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00"/>
          </a:solidFill>
          <a:ln xmlns:a="http://schemas.openxmlformats.org/drawingml/2006/main" w="12700">
            <a:solidFill>
              <a:srgbClr val="F2A100">
                <a:alpha val="0"/>
              </a:srgbClr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5D697AC0-C778-47FB-B72F-D24EF371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97880"/>
            <a:ext cx="2286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再開時の調査量</a:t>
            </a:r>
            <a:endParaRPr sz="10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AC56E46-F331-4345-AE0A-32D6F877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934456"/>
            <a:ext cx="192024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F2"/>
          </a:solidFill>
          <a:ln xmlns:a="http://schemas.openxmlformats.org/drawingml/2006/main" w="12700">
            <a:solidFill>
              <a:srgbClr val="E4EAF2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31FD732A-CE5B-4318-92D2-DCC67397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934456"/>
            <a:ext cx="144018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EE6"/>
          </a:solidFill>
          <a:ln xmlns:a="http://schemas.openxmlformats.org/drawingml/2006/main" w="12700">
            <a:solidFill>
              <a:srgbClr val="6C4EE6">
                <a:alpha val="0"/>
              </a:srgbClr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6CFDFEC-54F9-4EE2-8DC3-104D0F77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166360"/>
            <a:ext cx="2286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手順の再現性</a:t>
            </a:r>
            <a:endParaRPr sz="105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3E681843-8EED-4A83-A49F-A229CD2D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202936"/>
            <a:ext cx="192024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F2"/>
          </a:solidFill>
          <a:ln xmlns:a="http://schemas.openxmlformats.org/drawingml/2006/main" w="12700">
            <a:solidFill>
              <a:srgbClr val="E4EAF2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BF18E53F-D2B9-4B46-81DF-34BC9CAE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202936"/>
            <a:ext cx="1728216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D65"/>
          </a:solidFill>
          <a:ln xmlns:a="http://schemas.openxmlformats.org/drawingml/2006/main" w="12700">
            <a:solidFill>
              <a:srgbClr val="2EAD65">
                <a:alpha val="0"/>
              </a:srgbClr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75AC6F5C-A68C-497A-A72E-BBBC0977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532120"/>
            <a:ext cx="2286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レビュー証跡</a:t>
            </a:r>
            <a:endParaRPr sz="105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CBA32E5F-6C75-4EBF-8278-3E458C1A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568696"/>
            <a:ext cx="192024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F2"/>
          </a:solidFill>
          <a:ln xmlns:a="http://schemas.openxmlformats.org/drawingml/2006/main" w="12700">
            <a:solidFill>
              <a:srgbClr val="E4EAF2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ADB9FD65-0DF2-43F2-B0DE-9A439388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568696"/>
            <a:ext cx="1632204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B1921275-3FBC-4C0F-A206-7580ADBC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897880"/>
            <a:ext cx="2286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技術別最適化</a:t>
            </a:r>
            <a:endParaRPr sz="105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1B42E530-22C1-4D60-A767-DD3029A1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934456"/>
            <a:ext cx="192024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F2"/>
          </a:solidFill>
          <a:ln xmlns:a="http://schemas.openxmlformats.org/drawingml/2006/main" w="12700">
            <a:solidFill>
              <a:srgbClr val="E4EAF2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C2D35F47-9FE2-4C01-AA88-321782B0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934456"/>
            <a:ext cx="1536192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041505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2A205BD-EB06-43F9-8FBC-2DC7DA88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C7C0C22-EC4B-4CB6-814D-BCA2B2E7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5DEA6C3-CB56-486E-A81D-A7E71F2A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MODEL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B43313D-4737-47A4-83D5-BACB0D55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全体像：Issueを軸に仕様・設計・検証を進める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DFC5638-63C9-4CF2-A405-E4AF9186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テンプレートは「AIに何を読むか」だけでなく、「いつ何を決めるか」をリポジトリに固定する。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0AFD52A-0240-42D6-8DCE-2B535494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7</a:t>
            </a:r>
            <a:endParaRPr sz="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B907AE4-F77B-4CF1-98E1-E3913B85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20"/>
            <a:ext cx="18288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1E64D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1F8D4D2-5E4A-4C75-9A9E-8977DBDC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984248"/>
            <a:ext cx="16093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GitHub Issue</a:t>
            </a:r>
            <a:endParaRPr sz="12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9D31C1E-039F-4724-9766-0673BE4A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313432"/>
            <a:ext cx="159105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要求・scope・acceptance</a:t>
            </a:r>
            <a:endParaRPr sz="830"/>
          </a:p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phase labels</a:t>
            </a:r>
            <a:endParaRPr sz="83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0D3F0C6-10DA-4F49-A8A5-24C033CB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234440"/>
            <a:ext cx="18745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12700">
            <a:solidFill>
              <a:srgbClr val="6C4EE6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E4FFFC5-A398-497E-B1A4-56745F8D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1344168"/>
            <a:ext cx="16550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6C4EE6"/>
                </a:solidFill>
                <a:latin typeface="Yu Gothic"/>
                <a:ea typeface="Yu Gothic"/>
                <a:cs typeface="Yu Gothic"/>
              </a:rPr>
              <a:t>Specifications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5742C25-6BAD-4AEF-BDA1-93E5F3E7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1673352"/>
            <a:ext cx="16367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外部から見える契約</a:t>
            </a:r>
            <a:endParaRPr sz="830"/>
          </a:p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MUST / SHOULD / boundary</a:t>
            </a:r>
            <a:endParaRPr sz="83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A27CD2A-0352-41DA-B324-ABFC8064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874520"/>
            <a:ext cx="18745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6FAFA"/>
          </a:solidFill>
          <a:ln xmlns:a="http://schemas.openxmlformats.org/drawingml/2006/main" w="12700">
            <a:solidFill>
              <a:srgbClr val="00A6A6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A1AA660-ECB5-4280-9C7D-BDBBABD5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8" y="1984248"/>
            <a:ext cx="16550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A6A6"/>
                </a:solidFill>
                <a:latin typeface="Yu Gothic"/>
                <a:ea typeface="Yu Gothic"/>
                <a:cs typeface="Yu Gothic"/>
              </a:rPr>
              <a:t>Design</a:t>
            </a:r>
            <a:endParaRPr sz="12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C7EDCAB-B63A-47C7-86AA-E37C6A98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2313432"/>
            <a:ext cx="16367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内部構造・責務</a:t>
            </a:r>
            <a:endParaRPr sz="830"/>
          </a:p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data/control flow</a:t>
            </a:r>
            <a:endParaRPr sz="83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FC767F1-34E2-4104-ABF3-1B17EF92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234440"/>
            <a:ext cx="18745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12700">
            <a:solidFill>
              <a:srgbClr val="2EAD65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C222969-CD01-4927-A139-12442F48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1344168"/>
            <a:ext cx="16550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Code + Tests</a:t>
            </a:r>
            <a:endParaRPr sz="12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B404A24-7AB0-48C5-B94A-FFB1C30C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1673352"/>
            <a:ext cx="16367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実装・実行可能な証拠</a:t>
            </a:r>
            <a:endParaRPr sz="830"/>
          </a:p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quick/final hooks</a:t>
            </a:r>
            <a:endParaRPr sz="83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E9E5BC8-6BDB-4183-9E6D-064CDE0C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874520"/>
            <a:ext cx="18745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2700">
            <a:solidFill>
              <a:srgbClr val="F2A100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9A2F007-E549-4008-8A4D-A816ECCB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888" y="1984248"/>
            <a:ext cx="16550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2A100"/>
                </a:solidFill>
                <a:latin typeface="Yu Gothic"/>
                <a:ea typeface="Yu Gothic"/>
                <a:cs typeface="Yu Gothic"/>
              </a:rPr>
              <a:t>Pull Request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F8BCC5E-BA50-486D-93EA-0AEB7441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2313432"/>
            <a:ext cx="16367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delta/evidence/risk</a:t>
            </a:r>
            <a:endParaRPr sz="830"/>
          </a:p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Closes #issue</a:t>
            </a:r>
            <a:endParaRPr sz="83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12B58CD-49BD-4AC0-A405-D87AB957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14600" y="1737360"/>
            <a:ext cx="320040" cy="594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65642F0-D44D-4392-8D6B-A3759A10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737360"/>
            <a:ext cx="274320" cy="594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0641926-2B00-41A4-9DD8-5EE21F74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58000" y="1737360"/>
            <a:ext cx="274320" cy="594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DD5FFB7E-BE75-4BEB-8FD1-88BBCEA3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737360"/>
            <a:ext cx="274320" cy="594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597E057-7E82-4C73-B034-CBCF6713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9875520" cy="3360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15240">
            <a:solidFill>
              <a:srgbClr val="1E64D8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specs   desired behavior</a:t>
            </a:r>
            <a:endParaRPr sz="122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4E8F220-CAF0-45C6-AE2E-7129633F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331970"/>
            <a:ext cx="9473184" cy="3360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FF"/>
          </a:solidFill>
          <a:ln xmlns:a="http://schemas.openxmlformats.org/drawingml/2006/main" w="15240">
            <a:solidFill>
              <a:srgbClr val="6C4EE6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design   durable architecture</a:t>
            </a:r>
            <a:endParaRPr sz="122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2619B9C-07C7-450F-96A0-F7CFAF86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4777740"/>
            <a:ext cx="9070848" cy="3360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15240">
            <a:solidFill>
              <a:srgbClr val="2EAD65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code/tests   implementation evidence</a:t>
            </a:r>
            <a:endParaRPr sz="122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5731BF5-5168-4512-B0E1-A6BBE756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904" y="5223510"/>
            <a:ext cx="8668512" cy="3360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15240">
            <a:solidFill>
              <a:srgbClr val="F2A100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status   current state</a:t>
            </a:r>
            <a:endParaRPr sz="122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928EACA-8C20-45C9-9EE0-F56B27E9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0760"/>
            <a:ext cx="98755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重要: statusは現在地の案内であり、要求や設計の正本ではない。仕様変更はspecsから、構造変更はdesignから始める。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5375815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4971FA-9A95-4503-88AA-DE93CB5D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67ACBC2-C576-4058-A36D-36D0B86B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01B378-428F-4EF3-8A1D-1DC8EB09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PACKAGE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F81F4ED-5FA5-42A3-919B-9EEA2C81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テンプレートに含まれるもの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7466363-29A0-4050-AA5D-AE34FEA0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導入直後から「依頼→Issue→仕様/設計→実装→レビュー→更新」まで回せる最小セット。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B9110F8-C9B1-4AD0-B5D2-3B04AE51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8</a:t>
            </a:r>
            <a:endParaRPr sz="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3052760-438E-4A70-ADC5-8305532E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17320"/>
            <a:ext cx="2514600" cy="475488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1430">
            <a:solidFill>
              <a:srgbClr val="1E64D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CEE5032-C675-4E7D-9C5E-6DA1A250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4480"/>
            <a:ext cx="22402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AGENTS.md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21F1797-6479-4786-9624-A32B72C9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490472"/>
            <a:ext cx="7223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全AIエージェント共通の正本。作業開始順序、文書責務、完了条件を定義。</a:t>
            </a:r>
            <a:endParaRPr sz="112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DC80635-081C-4642-B4A0-5DC6E922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67128"/>
            <a:ext cx="2514600" cy="475488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11430">
            <a:solidFill>
              <a:srgbClr val="6C4EE6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AE15F7A-EE3B-42A4-8D64-AAC9598E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4288"/>
            <a:ext cx="22402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6C4EE6"/>
                </a:solidFill>
                <a:latin typeface="Yu Gothic"/>
                <a:ea typeface="Yu Gothic"/>
                <a:cs typeface="Yu Gothic"/>
              </a:rPr>
              <a:t>docs/agent-workflow/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51B834C-9E9C-4FCA-A509-16D4BB7C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240280"/>
            <a:ext cx="7223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requirements / design / implementation / review / checkpoint / evidence のフェーズ文書。</a:t>
            </a:r>
            <a:endParaRPr sz="11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CED220E-6B95-4E73-BAF7-52E93CD8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16936"/>
            <a:ext cx="2514600" cy="475488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6FAFA"/>
          </a:solidFill>
          <a:ln xmlns:a="http://schemas.openxmlformats.org/drawingml/2006/main" w="11430">
            <a:solidFill>
              <a:srgbClr val="00A6A6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65F9F26-E19A-43F1-9022-D03E8861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4096"/>
            <a:ext cx="22402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A6A6"/>
                </a:solidFill>
                <a:latin typeface="Yu Gothic"/>
                <a:ea typeface="Yu Gothic"/>
                <a:cs typeface="Yu Gothic"/>
              </a:rPr>
              <a:t>docs/standards + templates</a:t>
            </a: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C39D710-D151-4587-94CC-AD47D1CE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990088"/>
            <a:ext cx="7223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仕様書・設計書・statusの品質基準と雛形。validate-docsで検査。</a:t>
            </a:r>
            <a:endParaRPr sz="112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E30A1BC-73E8-4052-929E-FC85A9AC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66744"/>
            <a:ext cx="2514600" cy="475488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11430">
            <a:solidFill>
              <a:srgbClr val="2EAD65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C9D4B59-F5BF-4163-943E-CC056940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3904"/>
            <a:ext cx="22402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scripts/agent/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31A122F-B185-41E8-B228-DF9BA4E4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739896"/>
            <a:ext cx="7223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init, branch, hooks, milestone, contract, checkpoint, self-review, template update。</a:t>
            </a:r>
            <a:endParaRPr sz="11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2EB2515-8A0C-4D4E-9DFC-BB14B1A3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16552"/>
            <a:ext cx="2514600" cy="475488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1430">
            <a:solidFill>
              <a:srgbClr val="F2A100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3C72570-BA8C-4887-8FFD-F4875DA8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3712"/>
            <a:ext cx="22402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2A100"/>
                </a:solidFill>
                <a:latin typeface="Yu Gothic"/>
                <a:ea typeface="Yu Gothic"/>
                <a:cs typeface="Yu Gothic"/>
              </a:rPr>
              <a:t>.agent/project.json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93015C3-4090-4251-BB19-99BD8028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489704"/>
            <a:ext cx="7223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Rust/Node/Python/.NET等の技術別hookとbranch policyを設定。</a:t>
            </a:r>
            <a:endParaRPr sz="112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C75B7DE-FEA1-4470-A941-3CA444A9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2514600" cy="475488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1430">
            <a:solidFill>
              <a:srgbClr val="D94545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3CB0CC6-B159-44CB-94AB-7D8D3A3F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03520"/>
            <a:ext cx="22402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D94545"/>
                </a:solidFill>
                <a:latin typeface="Yu Gothic"/>
                <a:ea typeface="Yu Gothic"/>
                <a:cs typeface="Yu Gothic"/>
              </a:rPr>
              <a:t>.github/</a:t>
            </a:r>
            <a:endParaRPr sz="10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1062AC0-926A-4479-8853-6B929BE3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5239512"/>
            <a:ext cx="7223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Issue Form、phase label setup、PR template。GitHub運用の入口。</a:t>
            </a:r>
            <a:endParaRPr sz="112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EE620FD-FF06-4AD5-9F27-3FEC035C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72200"/>
            <a:ext cx="9966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この資料自体も `docs/presentations/` に格納し、テンプレート利用者向け説明資料として同梱する。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20299449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C75C702-3F9D-4EF1-9ADF-59BC734C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1258911-73D1-4448-94DD-DEC9011F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A7EB3D7-27DC-461F-A0CC-30D88A0A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REPOSITORY STRUCTURE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E3FA6E5-BAA3-48E1-A59C-0F2B9163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リポジトリ構造：読む場所を迷わせない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48A1CB0-FA8D-461F-9F42-E3FA8B11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AIエージェントに「全部読め」ではなく、目的別の入口を与える。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6ECCF0-10F6-463A-8EF3-456E7A44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9</a:t>
            </a:r>
            <a:endParaRPr sz="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1D31D1D-381C-4310-A8C9-660E3531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5257800" cy="4617720"/>
          </a:xfrm>
          <a:prstGeom xmlns:a="http://schemas.openxmlformats.org/drawingml/2006/main" prst="roundRect">
            <a:avLst>
              <a:gd name="adj" fmla="val 594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2700">
            <a:solidFill>
              <a:srgbClr val="202A3A">
                <a:alpha val="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1201A4-E5EF-453D-B276-4769B2BE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536192"/>
            <a:ext cx="4983480" cy="4398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AGENTS.md                 # repository-wide agent rules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CLAUDE.md / GEMINI.md     # provider-specific router only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.agent/project.json       # committed project profile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.agent-state/             # local issue state; ignored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docs/agent-workflow/      # phase workflow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docs/specs/               # observable contracts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docs/design/              # durable architecture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docs/status/              # concise current state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docs/standards/           # doc quality rules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docs/templates/           # spec/design/status templates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scripts/agent/            # shared helper scripts</a:t>
            </a:r>
            <a:endParaRPr sz="8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259DF68-83AE-419F-9091-94680ED7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17320"/>
            <a:ext cx="47548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1E64D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121681A-B47B-4EDA-9B16-DA02FB9F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1527048"/>
            <a:ext cx="44622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設計意図</a:t>
            </a:r>
            <a:endParaRPr sz="11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17FFDB0-1501-48AB-93B9-D8D03116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1828800"/>
            <a:ext cx="44622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AGENTS.mdを正本にし、Claude/Gemini/Codex等の個別ファイルには共通ルールを複製しない。</a:t>
            </a:r>
            <a:endParaRPr sz="92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181DF65-AD24-4643-8E48-51B0F75A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42032"/>
            <a:ext cx="47548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6FAFA"/>
          </a:solidFill>
          <a:ln xmlns:a="http://schemas.openxmlformats.org/drawingml/2006/main" w="12700">
            <a:solidFill>
              <a:srgbClr val="00A6A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374D656-7247-4535-B767-5EEDBF4B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2651760"/>
            <a:ext cx="44622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A6A6"/>
                </a:solidFill>
                <a:latin typeface="Yu Gothic"/>
                <a:ea typeface="Yu Gothic"/>
                <a:cs typeface="Yu Gothic"/>
              </a:rPr>
              <a:t>コンテキスト削減</a:t>
            </a:r>
            <a:endParaRPr sz="11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186627A-BD3E-4740-8DA6-89AEC98B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2953512"/>
            <a:ext cx="44622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docs/README.md → category README → 関連文書だけを読む。全spec/design/statusを横断しない。</a:t>
            </a:r>
            <a:endParaRPr sz="9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17D41B6-0199-4B6B-8663-876133F9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66744"/>
            <a:ext cx="47548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12700">
            <a:solidFill>
              <a:srgbClr val="2EAD6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32B3A15-039C-46EF-B12E-08FB27A5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3776472"/>
            <a:ext cx="44622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安全な一時状態</a:t>
            </a:r>
            <a:endParaRPr sz="11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AA90694-F5A7-482A-97AB-80C7DC36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4078224"/>
            <a:ext cx="44622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.agent-state/issues/&lt;issue&gt;/ にcontract/checkpoint/logs/self-reviewを保存し、Git管理しない。</a:t>
            </a:r>
            <a:endParaRPr sz="92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7505DCD-05E6-41D2-8326-05F28990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91456"/>
            <a:ext cx="47548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2700">
            <a:solidFill>
              <a:srgbClr val="F2A10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1888AC3-29E7-4DEF-ACCA-DD734A50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4901184"/>
            <a:ext cx="44622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2A100"/>
                </a:solidFill>
                <a:latin typeface="Yu Gothic"/>
                <a:ea typeface="Yu Gothic"/>
                <a:cs typeface="Yu Gothic"/>
              </a:rPr>
              <a:t>永続文書</a:t>
            </a:r>
            <a:endParaRPr sz="11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A0F5948-062F-40A2-8BB5-58E79D75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5202936"/>
            <a:ext cx="44622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specs/design/statusは履歴ログではなく、現在の正本・構造・状態を保つ。</a:t>
            </a:r>
            <a:endParaRPr sz="920"/>
          </a:p>
        </p:txBody>
      </p:sp>
    </p:spTree>
    <p:extLst>
      <p:ext uri="{BB962C8B-B14F-4D97-AF65-F5344CB8AC3E}">
        <p14:creationId xmlns:p14="http://schemas.microsoft.com/office/powerpoint/2010/main" val="8655913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C0190FC-CEDF-4FFD-9FD7-5ACDED77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27C3892-1AE1-4FB1-BEFB-C599C0D2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98B5EED-2E78-40A3-A89C-41F22480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WORKFLOW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8CFFB88-01CF-4ADA-8FD1-7BEC9E03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作業フェーズ：各段階の成果物と通過ゲート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EF86034-0266-4DD5-827F-B9838302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phase labelが、エージェントに読むべきworkflow文書と次の行動を指示する。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E8339CF-55EE-42FB-8DDD-8F3D1CF6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10</a:t>
            </a:r>
            <a:endParaRPr sz="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6BA190-67CA-45E6-8945-48BA2B03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18288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1E64D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5C1A973-41C2-4D2C-B8F5-A5A4CEED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64208"/>
            <a:ext cx="16093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phase:requirements</a:t>
            </a:r>
            <a:endParaRPr sz="12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8A3539F-7995-4CA1-B845-8C6B145D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993392"/>
            <a:ext cx="159105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何を満たすか</a:t>
            </a:r>
            <a:endParaRPr sz="83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B9A454D-44F4-49EB-86C0-A3CBF70F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1938528"/>
            <a:ext cx="3931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9714EEC-6713-44A0-A701-1CF1FFFC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761488"/>
            <a:ext cx="1920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Issue: objective / scope / non-goals / acceptance</a:t>
            </a:r>
            <a:endParaRPr sz="88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70A2502-37F3-4F83-A9F1-8B7C90B8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554480"/>
            <a:ext cx="18288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12700">
            <a:solidFill>
              <a:srgbClr val="6C4EE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6F25986-3078-4443-8EAA-BCD03507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664208"/>
            <a:ext cx="16093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6C4EE6"/>
                </a:solidFill>
                <a:latin typeface="Yu Gothic"/>
                <a:ea typeface="Yu Gothic"/>
                <a:cs typeface="Yu Gothic"/>
              </a:rPr>
              <a:t>phase:design</a:t>
            </a:r>
            <a:endParaRPr sz="12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3891E3C-B588-4E9B-A447-FDCE4F3A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664" y="1993392"/>
            <a:ext cx="159105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どう実現するか</a:t>
            </a:r>
            <a:endParaRPr sz="83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F209996-14F6-4513-A1FE-B7A37D19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938528"/>
            <a:ext cx="3931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ADE201C-EF55-4A76-9DAF-E03CFA76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72" y="2761488"/>
            <a:ext cx="1920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spec/design更新、Reviewer Checklist承認</a:t>
            </a:r>
            <a:endParaRPr sz="88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8643E8C-0937-4035-89A2-391AC3F5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1554480"/>
            <a:ext cx="18288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FAFA"/>
          </a:solidFill>
          <a:ln xmlns:a="http://schemas.openxmlformats.org/drawingml/2006/main" w="12700">
            <a:solidFill>
              <a:srgbClr val="00A6A6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4EFE1CD-AADC-4E31-A387-DA1BF818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1664208"/>
            <a:ext cx="16093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A6A6"/>
                </a:solidFill>
                <a:latin typeface="Yu Gothic"/>
                <a:ea typeface="Yu Gothic"/>
                <a:cs typeface="Yu Gothic"/>
              </a:rPr>
              <a:t>phase:ready</a:t>
            </a:r>
            <a:endParaRPr sz="12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58569A5-FFCF-4156-A1D3-0E1F939F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376" y="1993392"/>
            <a:ext cx="159105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実装開始可能</a:t>
            </a:r>
            <a:endParaRPr sz="83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E8D93A8-837D-47D6-8BC6-BF2530FE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1938528"/>
            <a:ext cx="3931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CB9680E-BD77-40F3-BDA7-F56B2F6E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784" y="2761488"/>
            <a:ext cx="1920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要求・設計・checklistが承認済み</a:t>
            </a:r>
            <a:endParaRPr sz="88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7F8B953-D6BC-4192-839B-D1EE7D23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216" y="1554480"/>
            <a:ext cx="18288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12700">
            <a:solidFill>
              <a:srgbClr val="2EAD65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86B89A2-DF90-4096-AB27-A7E208A5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944" y="1664208"/>
            <a:ext cx="16093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9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phase:implementation</a:t>
            </a:r>
            <a:endParaRPr sz="12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4E751F2-FB4D-401A-8F80-9760862C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1993392"/>
            <a:ext cx="159105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変更を作る</a:t>
            </a:r>
            <a:endParaRPr sz="83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F5637EC-B835-4AB5-97E5-6263017A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1938528"/>
            <a:ext cx="3931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009D380-E396-4DB9-82D5-44844DDA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7496" y="2761488"/>
            <a:ext cx="1920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branch, hooks, tests, docs sync, self-review</a:t>
            </a:r>
            <a:endParaRPr sz="88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482CCDA-4716-44FB-A7C5-08AC5D02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1554480"/>
            <a:ext cx="18288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2700">
            <a:solidFill>
              <a:srgbClr val="F2A100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C07B6BC-0F45-4518-8348-3E7C58EA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656" y="1664208"/>
            <a:ext cx="16093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2A100"/>
                </a:solidFill>
                <a:latin typeface="Yu Gothic"/>
                <a:ea typeface="Yu Gothic"/>
                <a:cs typeface="Yu Gothic"/>
              </a:rPr>
              <a:t>phase:review</a:t>
            </a:r>
            <a:endParaRPr sz="12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C8EAD44-968F-45B3-9AD3-1E7A3158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93392"/>
            <a:ext cx="1591056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差分を検査</a:t>
            </a:r>
            <a:endParaRPr sz="83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F5EE18A-D942-40DA-91F3-C6DE3587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208" y="2761488"/>
            <a:ext cx="1920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PR delta/evidence/risk、review remediation</a:t>
            </a:r>
            <a:endParaRPr sz="88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018930F5-E1C7-44A3-87D9-D2AECBC3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3886200"/>
            <a:ext cx="90708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5DEE8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70CC94F-EDD3-461E-924C-79904A72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685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1</a:t>
            </a:r>
            <a:endParaRPr sz="24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65F3D360-61DD-4394-ACE9-14D587BB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4416552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Issue所有を先に決める</a:t>
            </a:r>
            <a:endParaRPr sz="13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7A0A9422-F636-493F-AB30-45840A9D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685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6C4EE6"/>
                </a:solidFill>
                <a:latin typeface="Yu Gothic"/>
                <a:ea typeface="Yu Gothic"/>
                <a:cs typeface="Yu Gothic"/>
              </a:rPr>
              <a:t>2</a:t>
            </a:r>
            <a:endParaRPr sz="24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38A9B13-6975-4685-9659-86F6582E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8" y="4416552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仕様/設計を先に固定する</a:t>
            </a:r>
            <a:endParaRPr sz="13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1B8560DA-5E86-4330-9DAF-C9295740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43400"/>
            <a:ext cx="685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3</a:t>
            </a:r>
            <a:endParaRPr sz="24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1D9BAA7F-C529-4F6A-923F-781925F8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4416552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コミット済みHEADでレビューする</a:t>
            </a:r>
            <a:endParaRPr sz="13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F2B2718F-15BA-4969-9A2A-0B657636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06440"/>
            <a:ext cx="10058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「実装したので完了」ではなく、PR・review phase・self-review validationまで到達して初めて実装フェーズ完了。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7327062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9BA1D35-CF2C-4353-B4C4-4D47CDAF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AA7F667-3635-45C1-817D-D08D1568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2BD4485-BAC3-4B11-A306-7F445EB1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PHASE DETAIL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7D30D97-1501-4338-BBAC-CEE9E488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1つのIssueが完了するまで：誰が何を決めるか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5355202-5816-44E3-8494-8EACAF7F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AIは作業を進めるが、scope・公開契約・material architecture・最終承認は明示的なgateを通す。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7677EAD-0B40-47F5-A267-D3E895F8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11</a:t>
            </a:r>
            <a:endParaRPr sz="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72B93D0-739E-4A37-B524-88AC07C0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25880"/>
            <a:ext cx="15087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Phase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5FA832F-5AED-41F8-B155-0711D185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325880"/>
            <a:ext cx="224028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主な問い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780D656-8B57-466C-A75A-02B51AB2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325880"/>
            <a:ext cx="278892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AIエージェントの仕事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8722144-A34E-4E9D-AA23-E9B0437B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325880"/>
            <a:ext cx="210312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人間/maintainerの判断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668C2BA-9BF8-481B-8D3E-2B98AB5E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1325880"/>
            <a:ext cx="141732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成果物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E9AFD96-8EF9-4183-B713-7A1C518A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50876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requirements</a:t>
            </a:r>
            <a:endParaRPr sz="9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CA50089-B7D7-46CF-8161-5E62D353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783080"/>
            <a:ext cx="22402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何を満たすか</a:t>
            </a:r>
            <a:endParaRPr sz="9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5F122B6-E1EB-47EB-A5E6-87D297D2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83080"/>
            <a:ext cx="278892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Issue作成、scope/non-goal/acceptance整理</a:t>
            </a:r>
            <a:endParaRPr sz="9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9A6BE46-7CAA-404E-9434-9EBE17E6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783080"/>
            <a:ext cx="210312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曖昧な要求・優先順位を決める</a:t>
            </a:r>
            <a:endParaRPr sz="9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04DC886-98F7-4019-9A4A-61690896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1783080"/>
            <a:ext cx="141732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Issue</a:t>
            </a:r>
            <a:endParaRPr sz="9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7B32E3F-0D93-456A-A827-8430C914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97480"/>
            <a:ext cx="150876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design</a:t>
            </a:r>
            <a:endParaRPr sz="9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9745772-5B4A-45CF-BC33-8A25A40D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697480"/>
            <a:ext cx="22402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どう実現するか</a:t>
            </a:r>
            <a:endParaRPr sz="9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FC85AD-3846-4AD0-812C-13431A97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97480"/>
            <a:ext cx="278892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spec/design作成、riskとchecklist整理</a:t>
            </a:r>
            <a:endParaRPr sz="9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CE5E19B-E6DF-48E7-898F-6A0FF31A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697480"/>
            <a:ext cx="210312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公開契約・material designを承認</a:t>
            </a:r>
            <a:endParaRPr sz="9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B7D714A-0B51-4680-BB85-ABE9D4A1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697480"/>
            <a:ext cx="141732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Spec / Design</a:t>
            </a:r>
            <a:endParaRPr sz="9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34A7202-119C-44A4-BD51-258EAD4A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11880"/>
            <a:ext cx="150876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implementation</a:t>
            </a:r>
            <a:endParaRPr sz="9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229651B-F419-46F6-BAE5-144EF193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3611880"/>
            <a:ext cx="22402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承認内容を実装できたか</a:t>
            </a:r>
            <a:endParaRPr sz="9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94DB70B-26C2-4224-BD8D-10F31D40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11880"/>
            <a:ext cx="278892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branch作成、code/test/docs sync、quick/final hooks</a:t>
            </a:r>
            <a:endParaRPr sz="9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5C65F8C-657B-4182-83A5-FA9BED2E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611880"/>
            <a:ext cx="210312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scope逸脱時だけ再判断</a:t>
            </a:r>
            <a:endParaRPr sz="9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45061FE-A857-4450-A045-015608C5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3611880"/>
            <a:ext cx="141732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Code / Tests</a:t>
            </a:r>
            <a:endParaRPr sz="9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FB5742F-4B9C-4330-A00D-36A90BD6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526280"/>
            <a:ext cx="150876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review</a:t>
            </a:r>
            <a:endParaRPr sz="9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07E0839-8E93-470F-94A5-B12A3AED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4526280"/>
            <a:ext cx="22402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差分は安全か</a:t>
            </a:r>
            <a:endParaRPr sz="9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C69D106-F2B0-4D0C-9577-D0147F17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26280"/>
            <a:ext cx="278892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complete diff self-review、PR evidence、指摘対応</a:t>
            </a:r>
            <a:endParaRPr sz="9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BF942DF-0D22-49D0-80CE-06446552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526280"/>
            <a:ext cx="210312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レビュー承認 / merge判断</a:t>
            </a:r>
            <a:endParaRPr sz="9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D3DB00D-E6A0-4F71-9AA5-46FFE5A4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4526280"/>
            <a:ext cx="141732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PR / Evidence</a:t>
            </a:r>
            <a:endParaRPr sz="95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AF8539B7-9B74-4F8C-AA68-24D8B81E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69280"/>
            <a:ext cx="10424160" cy="64008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2700">
            <a:solidFill>
              <a:srgbClr val="D94545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D021011-D9E1-4887-A8AC-6367E865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5779008"/>
            <a:ext cx="101315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D94545"/>
                </a:solidFill>
                <a:latin typeface="Yu Gothic"/>
                <a:ea typeface="Yu Gothic"/>
                <a:cs typeface="Yu Gothic"/>
              </a:rPr>
              <a:t>戻り条件</a:t>
            </a:r>
            <a:endParaRPr sz="115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8C35232C-AE4A-4776-A909-441221A4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6080760"/>
            <a:ext cx="1013155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implementation中にpublic API・compatibility・ownership・threading・dependency・non-goal等のmaterial decisionが不足/矛盾すると判明したら、コードで決めずrequirements/designへ戻る。</a:t>
            </a:r>
            <a:endParaRPr sz="920"/>
          </a:p>
        </p:txBody>
      </p:sp>
    </p:spTree>
    <p:extLst>
      <p:ext uri="{BB962C8B-B14F-4D97-AF65-F5344CB8AC3E}">
        <p14:creationId xmlns:p14="http://schemas.microsoft.com/office/powerpoint/2010/main" val="13711940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3BCBC6-5CE5-4891-A1D3-95BE91EE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1003604-B83B-4E8F-8648-75C1066D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F1CB48C-F47D-4AA2-B203-1316DFBD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SPEC / DESIGN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CB27F89-165C-45D7-BED0-7ED4EC84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要求と内部設計を分け、実装判断までレビュー可能にする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3C45948-A00F-4244-B83E-65EEF570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specは外部契約の所有者、designは実現構造の所有者。責務と境界を分け、追跡可能にする。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E4D0E76-28B8-4F49-9AE2-FCF80137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12</a:t>
            </a:r>
            <a:endParaRPr sz="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F1D17D9-D349-49FB-A032-30AFB5FB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C4EE6"/>
                </a:solidFill>
                <a:latin typeface="Yu Gothic"/>
                <a:ea typeface="Yu Gothic"/>
                <a:cs typeface="Yu Gothic"/>
              </a:rPr>
              <a:t>Specification</a:t>
            </a:r>
            <a:endParaRPr sz="18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62B46B1-E570-4C86-9701-B48F6527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368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EE6"/>
          </a:solidFill>
          <a:ln xmlns:a="http://schemas.openxmlformats.org/drawingml/2006/main" w="12700">
            <a:solidFill>
              <a:srgbClr val="6C4EE6">
                <a:alpha val="0"/>
              </a:srgbClr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FD7E1D8-24F6-4BCA-81D4-9B1A0558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965960"/>
            <a:ext cx="38587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利用者が観測できる契約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DDE2299-0868-4014-875C-D4EC6A93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773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EE6"/>
          </a:solidFill>
          <a:ln xmlns:a="http://schemas.openxmlformats.org/drawingml/2006/main" w="12700">
            <a:solidFill>
              <a:srgbClr val="6C4EE6">
                <a:alpha val="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FE7AC0F-45A8-4F23-A5E2-0F923CED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350008"/>
            <a:ext cx="38587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入力・出力・状態遷移・順序</a:t>
            </a:r>
            <a:endParaRPr sz="11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C6C381A-78F0-41F8-A6AE-6004F4B1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178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EE6"/>
          </a:solidFill>
          <a:ln xmlns:a="http://schemas.openxmlformats.org/drawingml/2006/main" w="12700">
            <a:solidFill>
              <a:srgbClr val="6C4EE6">
                <a:alpha val="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9EC82FD-7F64-490C-8AB3-6DA509EE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734056"/>
            <a:ext cx="38587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エラー・境界・回復の契約</a:t>
            </a:r>
            <a:endParaRPr sz="11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93CEC67-9C0D-4C3C-BEE7-E4003E73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5828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EE6"/>
          </a:solidFill>
          <a:ln xmlns:a="http://schemas.openxmlformats.org/drawingml/2006/main" w="12700">
            <a:solidFill>
              <a:srgbClr val="6C4EE6">
                <a:alpha val="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F69BADF-77C2-44D9-8BFF-D9877710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118104"/>
            <a:ext cx="38587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品質属性・互換性・版管理</a:t>
            </a:r>
            <a:endParaRPr sz="11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8B165C4-DE50-48A0-B445-55B7557E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987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4EE6"/>
          </a:solidFill>
          <a:ln xmlns:a="http://schemas.openxmlformats.org/drawingml/2006/main" w="12700">
            <a:solidFill>
              <a:srgbClr val="6C4EE6">
                <a:alpha val="0"/>
              </a:srgbClr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E879758-39CD-41C7-86AD-A81F652A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502152"/>
            <a:ext cx="38587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MUST / SHOULD / MAY と受入れ追跡</a:t>
            </a:r>
            <a:endParaRPr sz="11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923691A-43FD-40EB-A651-AA623FC6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1732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0A6A6"/>
                </a:solidFill>
                <a:latin typeface="Yu Gothic"/>
                <a:ea typeface="Yu Gothic"/>
                <a:cs typeface="Yu Gothic"/>
              </a:rPr>
              <a:t>Design</a:t>
            </a:r>
            <a:endParaRPr sz="18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0E70FCF-7F34-4A52-B8A9-35FE67B4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4368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51CACF0-8E38-4516-9206-8AD1E381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965960"/>
            <a:ext cx="38587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境界・不変条件・責務</a:t>
            </a:r>
            <a:endParaRPr sz="11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C28ADEB-F290-4908-975D-45AAFC91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42773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EBFC843-8875-465D-B930-37F934D8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350008"/>
            <a:ext cx="38587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data / control / failure flow</a:t>
            </a:r>
            <a:endParaRPr sz="11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F94E002-96F2-4206-998E-86BE6242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81178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7446F0C-5493-4AF7-A16A-5776A4F6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734056"/>
            <a:ext cx="38587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ownership / lifecycle / cleanup</a:t>
            </a:r>
            <a:endParaRPr sz="11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80211F7E-4DD0-4784-BD61-4011DF47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195828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0504B8D-8745-4BE0-95D8-94CA74E9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3118104"/>
            <a:ext cx="38587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concurrency / async / executor</a:t>
            </a:r>
            <a:endParaRPr sz="11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9F8BA19C-E059-49F1-B41D-12EDFA5E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57987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E27F5EA-4119-4D40-8E37-008CA9F7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3502152"/>
            <a:ext cx="385876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運用・移行・検証・代替案・リスク</a:t>
            </a:r>
            <a:endParaRPr sz="11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B8C7A5F-FAF4-470B-A2A4-DC9169C8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697480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0E3CAC2-88D3-4C47-A496-4D78A297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971800"/>
            <a:ext cx="141732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実装前に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分離する</a:t>
            </a:r>
            <a:endParaRPr sz="10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237C3973-6C82-41ED-84A5-1C61C89E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72000"/>
            <a:ext cx="429768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2700">
            <a:solidFill>
              <a:srgbClr val="D94545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6B8A743-D686-451C-B4D6-7BF91955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681728"/>
            <a:ext cx="40050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D94545"/>
                </a:solidFill>
                <a:latin typeface="Yu Gothic"/>
                <a:ea typeface="Yu Gothic"/>
                <a:cs typeface="Yu Gothic"/>
              </a:rPr>
              <a:t>仕様書に書かない</a:t>
            </a:r>
            <a:endParaRPr sz="11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612309F-745F-40C9-A257-F75A0BD2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983480"/>
            <a:ext cx="40050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7645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クラス分割、cache、内部event経路など。必要な実装判断はdesignが所有する。</a:t>
            </a:r>
            <a:endParaRPr sz="92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48F9C652-1C6E-42B7-B704-E7638F07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72000"/>
            <a:ext cx="429768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2700">
            <a:solidFill>
              <a:srgbClr val="D94545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0008B06-5DBD-40FB-8CA9-B16DAB3A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4681728"/>
            <a:ext cx="40050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D94545"/>
                </a:solidFill>
                <a:latin typeface="Yu Gothic"/>
                <a:ea typeface="Yu Gothic"/>
                <a:cs typeface="Yu Gothic"/>
              </a:rPr>
              <a:t>設計書に書かない</a:t>
            </a:r>
            <a:endParaRPr sz="115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A661A95C-6EDE-4399-BCA0-85AC41D8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4983480"/>
            <a:ext cx="40050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7645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利用者へ保証するAPIや形式。designではspecへのtraceabilityを示し、契約はspecが所有する。</a:t>
            </a:r>
            <a:endParaRPr sz="92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6D518E76-B7B2-4D54-B566-70866BE7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97880"/>
            <a:ext cx="9966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docs/standards と validate-docs が必須章・文書schema・ローカルlinkを検証する。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269045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DB52D8-9467-47D1-9752-45C570B0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65E66F3-4D87-4B39-B7FC-8268BCDD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E767A72-6B39-433E-80BD-77D3BE03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DOCUMENT QUALITY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F10BAE2-FF42-4119-9BCF-6B37B7E8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文書品質ゲート：所有者・境界・運用まで検証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48F765B-B21A-4A3F-BD4D-CF52666F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schema v2は、実装・レビューに必要な契約と設計判断を追跡可能にする。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B4AF0A0-8A6C-4787-BB0B-022D74EE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13</a:t>
            </a:r>
            <a:endParaRPr sz="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CC5A963-6C44-4738-A60B-C6CE9251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5166360" cy="12801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12700">
            <a:solidFill>
              <a:srgbClr val="6C4EE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25E8316-A77C-42CD-B0BD-BBF8D915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1527048"/>
            <a:ext cx="48737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6C4EE6"/>
                </a:solidFill>
                <a:latin typeface="Yu Gothic"/>
                <a:ea typeface="Yu Gothic"/>
                <a:cs typeface="Yu Gothic"/>
              </a:rPr>
              <a:t>Specification v2</a:t>
            </a:r>
            <a:endParaRPr sz="11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3E7EA5D-B277-42E3-81D3-D203B27E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1828800"/>
            <a:ext cx="487375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Overview / Purpose / Scope / Terminology / Semantic ownership / Normative behavior / Errors / Quality / Compatibility / Acceptance traceability</a:t>
            </a:r>
            <a:endParaRPr sz="92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5A4F2B3-702A-4EF2-94CD-41BC2595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417320"/>
            <a:ext cx="5166360" cy="12801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6FAFA"/>
          </a:solidFill>
          <a:ln xmlns:a="http://schemas.openxmlformats.org/drawingml/2006/main" w="12700">
            <a:solidFill>
              <a:srgbClr val="00A6A6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60E31DD-086D-42E2-8EE4-2A742EC7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1527048"/>
            <a:ext cx="48737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A6A6"/>
                </a:solidFill>
                <a:latin typeface="Yu Gothic"/>
                <a:ea typeface="Yu Gothic"/>
                <a:cs typeface="Yu Gothic"/>
              </a:rPr>
              <a:t>Design v2</a:t>
            </a:r>
            <a:endParaRPr sz="11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75B931F-EFE3-4C67-AB94-A0350F90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1828800"/>
            <a:ext cx="487375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Goals / Traceability / Architecture + invariants / Responsibilities / Flows + lifecycle / Recovery + concurrency / Operations / Migration / Verification / Alternatives + risks</a:t>
            </a:r>
            <a:endParaRPr sz="9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5623FB2-39B1-403F-9FD6-5126646F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46120"/>
            <a:ext cx="10469880" cy="9144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2700">
            <a:solidFill>
              <a:srgbClr val="202A3A">
                <a:alpha val="0"/>
              </a:srgbClr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B11E2E1-3E49-42F2-B465-5DD39526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64992"/>
            <a:ext cx="1019556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./scripts/agent/new-doc.sh specification export/csv --issue 123 --title "CSV Export"</a:t>
            </a:r>
            <a:endParaRPr sz="880"/>
          </a:p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./scripts/agent/new-doc.sh design export/csv --issue 123 --title "CSV Export"</a:t>
            </a:r>
            <a:endParaRPr sz="880"/>
          </a:p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./scripts/agent/validate-docs.sh</a:t>
            </a:r>
            <a:endParaRPr sz="88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929798C-28D0-4460-9259-03FAE94B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9544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AD65"/>
          </a:solidFill>
          <a:ln xmlns:a="http://schemas.openxmlformats.org/drawingml/2006/main" w="12700">
            <a:solidFill>
              <a:srgbClr val="2EAD65">
                <a:alpha val="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08103BE-329C-4902-8B1C-CC8C5D66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617720"/>
            <a:ext cx="97109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文書名は `*-spec.md`, `*-design.md`, `*-status.md` で、エディタのタブでも種類が分かる</a:t>
            </a:r>
            <a:endParaRPr sz="122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9C0CD3B-8027-43C1-80C0-F268A891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863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AD65"/>
          </a:solidFill>
          <a:ln xmlns:a="http://schemas.openxmlformats.org/drawingml/2006/main" w="12700">
            <a:solidFill>
              <a:srgbClr val="2EAD65">
                <a:alpha val="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733F0C3-ADD8-4984-903F-303FBF82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5010912"/>
            <a:ext cx="97109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schema marker・必須章・壊れたlocal Markdown linkを検出。50 KiB超とREADME未登録は警告。</a:t>
            </a:r>
            <a:endParaRPr sz="12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79C13CB-8FA1-4BEB-809F-25EEFE1C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1828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AD65"/>
          </a:solidFill>
          <a:ln xmlns:a="http://schemas.openxmlformats.org/drawingml/2006/main" w="12700">
            <a:solidFill>
              <a:srgbClr val="2EAD65">
                <a:alpha val="0"/>
              </a:srgbClr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F183807-2A95-4C59-A199-9804DD36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5404104"/>
            <a:ext cx="971092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N/Aは理由を記録する。サイズだけで文書分割を強制しない。</a:t>
            </a:r>
            <a:endParaRPr sz="1220"/>
          </a:p>
        </p:txBody>
      </p:sp>
    </p:spTree>
    <p:extLst>
      <p:ext uri="{BB962C8B-B14F-4D97-AF65-F5344CB8AC3E}">
        <p14:creationId xmlns:p14="http://schemas.microsoft.com/office/powerpoint/2010/main" val="12908293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EAD4329-7153-4DA6-A0B1-A46A1437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3635FD7-4B7E-460D-8EB6-FF2FCAD9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A152755-FF0C-47FB-AC62-CDA3AFD2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SPEC EXAMPLE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F12385F-562C-433A-9A99-0A1F706D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仕様書の具体例：CSV Exportの契約と境界を定義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6365D9C-3B2F-410F-AF40-75573615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出力形式、失敗時の結果、互換性を定義し、要件ごとに検証を追跡する。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457D1F9-7A40-4A4B-886B-206618BC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14</a:t>
            </a:r>
            <a:endParaRPr sz="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0A66388-D66E-4BA4-AFD5-6165A121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521208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12700">
            <a:solidFill>
              <a:srgbClr val="6C4EE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77CE49C-36F3-4D79-B2D6-DD6DF7A0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1435608"/>
            <a:ext cx="49194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6C4EE6"/>
                </a:solidFill>
                <a:latin typeface="Yu Gothic"/>
                <a:ea typeface="Yu Gothic"/>
                <a:cs typeface="Yu Gothic"/>
              </a:rPr>
              <a:t>Purpose / Scope / Semantic ownership</a:t>
            </a:r>
            <a:endParaRPr sz="11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C263E54-9A96-4B36-800F-3540D8F3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1737360"/>
            <a:ext cx="491947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Task一覧を表示中のfilterでCSV保存する。列・形式は本specが所有し、添付binaryは対象外。</a:t>
            </a:r>
            <a:endParaRPr sz="92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07F59A8-006C-4080-9A1E-A46DDFD6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325880"/>
            <a:ext cx="521208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1E64D8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720A06C-D0C1-453D-9D2B-C2574B81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435608"/>
            <a:ext cx="49194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Normative / Observable behavior</a:t>
            </a:r>
            <a:endParaRPr sz="11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AB6E30-5744-43B2-B4BF-85C6483A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737360"/>
            <a:ext cx="491947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UTF-8 BOM、列順とRFC 4180 quotingを固定し、filter順を維持。0件でもheaderを出力する。</a:t>
            </a:r>
            <a:endParaRPr sz="9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F7F8162-319F-4E7F-8AE2-B6B3E327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521208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2700">
            <a:solidFill>
              <a:srgbClr val="D94545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4B42EE5-A72E-4396-A103-6FDF1897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852928"/>
            <a:ext cx="49194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D94545"/>
                </a:solidFill>
                <a:latin typeface="Yu Gothic"/>
                <a:ea typeface="Yu Gothic"/>
                <a:cs typeface="Yu Gothic"/>
              </a:rPr>
              <a:t>Error / Boundary</a:t>
            </a:r>
            <a:endParaRPr sz="11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3B226A2-908C-4132-8812-607204F9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154680"/>
            <a:ext cx="491947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permission denied / disk full / cancel / 0件 / quote・newline / 非BMPを定義。失敗時はpartial fileを残さない。</a:t>
            </a:r>
            <a:endParaRPr sz="92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E565502-A796-4F0F-948B-0F4B214D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743200"/>
            <a:ext cx="521208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2700">
            <a:solidFill>
              <a:srgbClr val="F2A10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0F74EBC-C7AF-4132-815E-9B1D3EB8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852928"/>
            <a:ext cx="49194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2A100"/>
                </a:solidFill>
                <a:latin typeface="Yu Gothic"/>
                <a:ea typeface="Yu Gothic"/>
                <a:cs typeface="Yu Gothic"/>
              </a:rPr>
              <a:t>Quality / Compatibility</a:t>
            </a:r>
            <a:endParaRPr sz="11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7AF993E-C958-4873-9689-483DC782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154680"/>
            <a:ext cx="491947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column変更のconsumer影響とversioning方針を定義。大規模exportのmemory上限とplatform差も記録。</a:t>
            </a:r>
            <a:endParaRPr sz="9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5314957-2E58-4AB5-9090-EB7D5E22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058400" cy="105156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2700">
            <a:solidFill>
              <a:srgbClr val="202A3A">
                <a:alpha val="0"/>
              </a:srgbClr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F23905A-3E8F-440E-ABC7-06D15779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62272"/>
            <a:ext cx="9784080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MUST: output columns = id,title,status,updated_at</a:t>
            </a:r>
            <a:endParaRPr sz="880"/>
          </a:p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MUST: preserve current filtered order</a:t>
            </a:r>
            <a:endParaRPr sz="880"/>
          </a:p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MUST NOT: leave a partial destination file after a failed write</a:t>
            </a:r>
            <a:endParaRPr sz="880"/>
          </a:p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SHOULD: report a user-readable failure reason</a:t>
            </a:r>
            <a:endParaRPr sz="88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BEAF978-3741-4749-A061-D9984393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97880"/>
            <a:ext cx="10058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Acceptance criteriaは各contractに対応する観測可能な検証caseへtraceする。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3708204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6BBC37-15DA-4D74-867D-FA087A22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FDADC48-F5F3-4C35-9B88-E3339A17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105F47F-CE96-42E1-BA3D-40FD5516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DESIGN EXAMPLE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17DD20D-4B57-4FED-A48B-22B58975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設計書の具体例：契約と失敗を実装へ落とす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90651C-72AE-4C47-93F5-3691A46C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Designは責務、lifecycle、recovery、concurrency、検証まで決め、実装判断を残さない。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46A244-FBCD-46EC-A58F-73EF6060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15</a:t>
            </a:r>
            <a:endParaRPr sz="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7D37818-1FDA-4A33-A018-22E3B93E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18288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1E64D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D713965-322D-4D17-B1D0-4816292C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09928"/>
            <a:ext cx="16093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UI / Command</a:t>
            </a:r>
            <a:endParaRPr sz="12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3065558-0F1D-41B9-945A-F1336793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039112"/>
            <a:ext cx="1591056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export request</a:t>
            </a:r>
            <a:endParaRPr sz="830"/>
          </a:p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path + current query</a:t>
            </a:r>
            <a:endParaRPr sz="83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D36500B-6719-40D0-ABCD-CC06B393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00200"/>
            <a:ext cx="18288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12700">
            <a:solidFill>
              <a:srgbClr val="6C4EE6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355028B-A1D7-425A-B07D-8122CFFB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528" y="1709928"/>
            <a:ext cx="16093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6C4EE6"/>
                </a:solidFill>
                <a:latin typeface="Yu Gothic"/>
                <a:ea typeface="Yu Gothic"/>
                <a:cs typeface="Yu Gothic"/>
              </a:rPr>
              <a:t>Export Service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C5E3C4C-156B-4AB7-B5ED-88F0861C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2039112"/>
            <a:ext cx="1591056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orchestration</a:t>
            </a:r>
            <a:endParaRPr sz="830"/>
          </a:p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validation/concurrency/cancel</a:t>
            </a:r>
            <a:endParaRPr sz="83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F143421-F587-4518-954D-BBDD927D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600200"/>
            <a:ext cx="18288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6FAFA"/>
          </a:solidFill>
          <a:ln xmlns:a="http://schemas.openxmlformats.org/drawingml/2006/main" w="12700">
            <a:solidFill>
              <a:srgbClr val="00A6A6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5DC249B-637D-4BE9-9FDD-715EC940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1709928"/>
            <a:ext cx="16093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A6A6"/>
                </a:solidFill>
                <a:latin typeface="Yu Gothic"/>
                <a:ea typeface="Yu Gothic"/>
                <a:cs typeface="Yu Gothic"/>
              </a:rPr>
              <a:t>CSV Encoder</a:t>
            </a:r>
            <a:endParaRPr sz="12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86045D4-BC27-43D0-8C30-9DD8747F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039112"/>
            <a:ext cx="1591056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escaping/schema</a:t>
            </a:r>
            <a:endParaRPr sz="830"/>
          </a:p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streaming row order</a:t>
            </a:r>
            <a:endParaRPr sz="83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9662550-0076-4C18-B3E6-17A030E3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600200"/>
            <a:ext cx="18288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12700">
            <a:solidFill>
              <a:srgbClr val="2EAD65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5504A08-A6E4-44E1-8649-E0C55D60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1709928"/>
            <a:ext cx="16093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Atomic Writer</a:t>
            </a:r>
            <a:endParaRPr sz="12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DCF29A5-8B55-4AC4-B89D-FC1162A1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2" y="2039112"/>
            <a:ext cx="1591056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temp file</a:t>
            </a:r>
            <a:endParaRPr sz="830"/>
          </a:p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atomic replace/cleanup</a:t>
            </a:r>
            <a:endParaRPr sz="83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665F530-1BB7-4C49-8CAA-220F7D8B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600200"/>
            <a:ext cx="18288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2700">
            <a:solidFill>
              <a:srgbClr val="F2A100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87B0888-4A05-48BD-A873-B5BEB2EE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1709928"/>
            <a:ext cx="16093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2A100"/>
                </a:solidFill>
                <a:latin typeface="Yu Gothic"/>
                <a:ea typeface="Yu Gothic"/>
                <a:cs typeface="Yu Gothic"/>
              </a:rPr>
              <a:t>Filesystem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80A173B-D0A9-4C93-B080-478681C6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512" y="2039112"/>
            <a:ext cx="1591056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permission/full disk</a:t>
            </a:r>
            <a:endParaRPr sz="830"/>
          </a:p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platform behavior</a:t>
            </a:r>
            <a:endParaRPr sz="83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AB80429-08F0-411F-9E08-4AB3199C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2029968"/>
            <a:ext cx="36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E2CE86D-EF43-42B2-9678-652A1F2B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29968"/>
            <a:ext cx="36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9A62345A-E5FE-4F96-B14E-64DF9DD0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029968"/>
            <a:ext cx="36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A4A34DE-C84B-4F41-BDD8-7AADCE9C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029968"/>
            <a:ext cx="36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D784EDA-1B7D-4313-BE62-2A2F37D3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46120"/>
            <a:ext cx="329184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12700">
            <a:solidFill>
              <a:srgbClr val="2EAD65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B902B16-46F8-4D16-8EDD-42B9BD5D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3355848"/>
            <a:ext cx="299923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Ownership / lifecycle</a:t>
            </a:r>
            <a:endParaRPr sz="11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C2666DE-3827-4ABD-8235-80FF7D26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3657600"/>
            <a:ext cx="299923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918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Service owns request/cancel scope. Writer owns temp-file lifecycle, atomic replace and cleanup on failure or cancel.</a:t>
            </a:r>
            <a:endParaRPr sz="92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4D51D2D-AB0F-43E5-A42A-71AAB019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246120"/>
            <a:ext cx="329184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2700">
            <a:solidFill>
              <a:srgbClr val="D94545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F5F8812-0138-4918-867F-FE0F1163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3355848"/>
            <a:ext cx="299923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D94545"/>
                </a:solidFill>
                <a:latin typeface="Yu Gothic"/>
                <a:ea typeface="Yu Gothic"/>
                <a:cs typeface="Yu Gothic"/>
              </a:rPr>
              <a:t>Failure flow</a:t>
            </a:r>
            <a:endParaRPr sz="11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370232B-3019-4C47-B1F9-DA8B4269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3657600"/>
            <a:ext cx="299923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7705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Encoder/write/rename errorをtyped errorへ変換。cancelで処理を止め、tempとpartial outputを回収する。</a:t>
            </a:r>
            <a:endParaRPr sz="92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4D6142ED-8ED1-45B1-AF18-C086644B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246120"/>
            <a:ext cx="329184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FAFA"/>
          </a:solidFill>
          <a:ln xmlns:a="http://schemas.openxmlformats.org/drawingml/2006/main" w="12700">
            <a:solidFill>
              <a:srgbClr val="00A6A6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11AA342-B435-492C-AD60-DC1D72D7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3355848"/>
            <a:ext cx="299923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A6A6"/>
                </a:solidFill>
                <a:latin typeface="Yu Gothic"/>
                <a:ea typeface="Yu Gothic"/>
                <a:cs typeface="Yu Gothic"/>
              </a:rPr>
              <a:t>Verification strategy</a:t>
            </a:r>
            <a:endParaRPr sz="115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6F1AE0AA-5DC0-4CE8-A525-05C6097C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3657600"/>
            <a:ext cx="299923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unit + temp-file integration + boundary/property cases + cancellation/concurrency + platform failure checks.</a:t>
            </a:r>
            <a:endParaRPr sz="92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B17B4118-93B6-45F8-B242-B91BD630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7760"/>
            <a:ext cx="100584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2700">
            <a:solidFill>
              <a:srgbClr val="F2A100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7E210A7F-DA36-46B6-B94B-EDB6771D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5047488"/>
            <a:ext cx="97657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2A100"/>
                </a:solidFill>
                <a:latin typeface="Yu Gothic"/>
                <a:ea typeface="Yu Gothic"/>
                <a:cs typeface="Yu Gothic"/>
              </a:rPr>
              <a:t>Alternatives rejected</a:t>
            </a:r>
            <a:endParaRPr sz="115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35C211A-3A89-4486-A75C-2C59E1D7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5349240"/>
            <a:ext cx="9765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全rowの一括memory buildは大規模exportで上限を破るため不採用。streaming + atomic replaceを採用。</a:t>
            </a:r>
            <a:endParaRPr sz="920"/>
          </a:p>
        </p:txBody>
      </p:sp>
    </p:spTree>
    <p:extLst>
      <p:ext uri="{BB962C8B-B14F-4D97-AF65-F5344CB8AC3E}">
        <p14:creationId xmlns:p14="http://schemas.microsoft.com/office/powerpoint/2010/main" val="15589150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AFE5CB5-9799-462C-8D95-2A041D49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A52247B-BA62-461B-9FD3-0F79D2E1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2ADB7E2-7133-4DCC-B2DA-C69B9399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TECH PROFILE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B0F5F08-2198-4388-AAF4-66808BEC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技術スタック最適化：project profile と hooks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1E050DB-0642-4F2F-A533-D0C6627D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テンプレートの共通ルールと、プロジェクト固有の検証・clean・buildコマンドを分離する。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7B8CE36-C930-4640-81FA-5DA51CEC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16</a:t>
            </a:r>
            <a:endParaRPr sz="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60E3E87-B7DE-4F7F-B0F7-8A20C95C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17320"/>
            <a:ext cx="5577840" cy="3657600"/>
          </a:xfrm>
          <a:prstGeom xmlns:a="http://schemas.openxmlformats.org/drawingml/2006/main" prst="roundRect">
            <a:avLst>
              <a:gd name="adj" fmla="val 750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2700">
            <a:solidFill>
              <a:srgbClr val="202A3A">
                <a:alpha val="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9407C5B-B83B-487A-B718-20CF81DB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36192"/>
            <a:ext cx="5303520" cy="3438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{</a:t>
            </a:r>
            <a:endParaRPr sz="860"/>
          </a:p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  "stacks": ["rust", "node"],</a:t>
            </a:r>
            <a:endParaRPr sz="860"/>
          </a:p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  "hooks": {</a:t>
            </a:r>
            <a:endParaRPr sz="860"/>
          </a:p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    "branch_switch": ["cargo clean"],</a:t>
            </a:r>
            <a:endParaRPr sz="860"/>
          </a:p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    "verify_quick": ["cargo check --workspace", "npm run typecheck"],</a:t>
            </a:r>
            <a:endParaRPr sz="860"/>
          </a:p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    "verify_final": ["cargo fmt --all -- --check", "cargo test --workspace", "npm test"]</a:t>
            </a:r>
            <a:endParaRPr sz="860"/>
          </a:p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  }</a:t>
            </a:r>
            <a:endParaRPr sz="860"/>
          </a:p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}</a:t>
            </a:r>
            <a:endParaRPr sz="86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4C72A71-55E5-43D4-9E16-2E97F9D1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417320"/>
            <a:ext cx="443484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1E64D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49C98B3-E592-4185-8D45-51D0C912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1527048"/>
            <a:ext cx="414223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自動検出</a:t>
            </a:r>
            <a:endParaRPr sz="11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FEAC4D7-F620-4ED3-A30F-4F7C9086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1828800"/>
            <a:ext cx="41422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`Cargo.toml`, `package.json`, `pyproject.toml`, `*.sln` / `*.csproj` から初期値を生成。</a:t>
            </a:r>
            <a:endParaRPr sz="92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D24C46C-CD84-40A0-80ED-0B153776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514600"/>
            <a:ext cx="443484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12700">
            <a:solidFill>
              <a:srgbClr val="2EAD65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94F37A6-F3BA-4575-9B1F-DBA513E5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624328"/>
            <a:ext cx="414223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Rust例</a:t>
            </a:r>
            <a:endParaRPr sz="11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E07A907-27BA-416D-A884-81497054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926080"/>
            <a:ext cx="41422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`--cargo-clean on` で、実際にfeature branchへ切り替わった時だけ `cargo clean` を実行。</a:t>
            </a:r>
            <a:endParaRPr sz="9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1DEBFB6-B8D8-4EDA-92FD-80FEC4F3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611880"/>
            <a:ext cx="443484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12700">
            <a:solidFill>
              <a:srgbClr val="6C4EE6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692E351-536F-414D-8CEB-1F9DB000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721608"/>
            <a:ext cx="414223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6C4EE6"/>
                </a:solidFill>
                <a:latin typeface="Yu Gothic"/>
                <a:ea typeface="Yu Gothic"/>
                <a:cs typeface="Yu Gothic"/>
              </a:rPr>
              <a:t>混在プロジェクト</a:t>
            </a:r>
            <a:endParaRPr sz="11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154592B-42F8-4ED8-9EE5-52E5E6CB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023360"/>
            <a:ext cx="41422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Rust + Nodeなどではquick/final hookを両方持てる。CIゲートと一致させる。</a:t>
            </a:r>
            <a:endParaRPr sz="92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12509AA-43C2-488C-85BC-ACED76F7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709160"/>
            <a:ext cx="443484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2700">
            <a:solidFill>
              <a:srgbClr val="F2A10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6BD5353-2481-4ABF-9425-CFAC389E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818888"/>
            <a:ext cx="414223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2A100"/>
                </a:solidFill>
                <a:latin typeface="Yu Gothic"/>
                <a:ea typeface="Yu Gothic"/>
                <a:cs typeface="Yu Gothic"/>
              </a:rPr>
              <a:t>原則</a:t>
            </a:r>
            <a:endParaRPr sz="11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A34F4BB-EEF3-4E0B-BC7F-76C300FD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5120640"/>
            <a:ext cx="41422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workflow文書に技術コマンドを重複記載せず、`.agent/project.json` を実行ポリシーの正本にする。</a:t>
            </a:r>
            <a:endParaRPr sz="920"/>
          </a:p>
        </p:txBody>
      </p:sp>
    </p:spTree>
    <p:extLst>
      <p:ext uri="{BB962C8B-B14F-4D97-AF65-F5344CB8AC3E}">
        <p14:creationId xmlns:p14="http://schemas.microsoft.com/office/powerpoint/2010/main" val="7100466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B013C5-11EA-4FE1-8FC4-B7643B6E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CDC09B1-6CF5-450D-95F1-E23D77EB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E5F64C7-0CD6-4E51-906D-6FDA9927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SCRIPT SUITE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40FADF3-A75A-4174-9220-3B000BEA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主要スクリプト：日常操作を短いコマンドへ集約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4B3ED2A-2AC6-4A47-B8D7-8E9DEE8D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Shell/PowerShellは薄いラッパーで、共通ロジックは agent_tool.py に集約。OS差を減らす。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60CC023-93E1-45BF-A40A-AB304F61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17</a:t>
            </a:r>
            <a:endParaRPr sz="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0EC33FD-412B-4448-80D8-84641F72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315468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1E64D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E766663-A070-46B4-9666-77A95765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1527048"/>
            <a:ext cx="28620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初期化</a:t>
            </a:r>
            <a:endParaRPr sz="11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9B45C30-798F-4F53-AEEB-2D8A1DC5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1828800"/>
            <a:ext cx="28620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`init-project`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`setup-github`</a:t>
            </a:r>
            <a:endParaRPr sz="92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E0A19C7-9ABF-440B-B8B0-9D719A48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417320"/>
            <a:ext cx="315468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12700">
            <a:solidFill>
              <a:srgbClr val="6C4EE6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B9FF43-0464-4FE5-8956-E969B44E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1527048"/>
            <a:ext cx="28620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6C4EE6"/>
                </a:solidFill>
                <a:latin typeface="Yu Gothic"/>
                <a:ea typeface="Yu Gothic"/>
                <a:cs typeface="Yu Gothic"/>
              </a:rPr>
              <a:t>作業開始</a:t>
            </a:r>
            <a:endParaRPr sz="11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E2E908E-0F73-4DDA-9BE3-BD3D9664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1828800"/>
            <a:ext cx="28620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`agent-context`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`prepare-self-review`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`start-feature-branch`</a:t>
            </a:r>
            <a:endParaRPr sz="9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02443DD-92D6-48B6-8446-86DB5054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417320"/>
            <a:ext cx="315468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6FAFA"/>
          </a:solidFill>
          <a:ln xmlns:a="http://schemas.openxmlformats.org/drawingml/2006/main" w="12700">
            <a:solidFill>
              <a:srgbClr val="00A6A6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6A9685E-870B-451E-9480-5A44BB87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1527048"/>
            <a:ext cx="28620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A6A6"/>
                </a:solidFill>
                <a:latin typeface="Yu Gothic"/>
                <a:ea typeface="Yu Gothic"/>
                <a:cs typeface="Yu Gothic"/>
              </a:rPr>
              <a:t>実装中</a:t>
            </a:r>
            <a:endParaRPr sz="11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90B5FDA-54B2-48E8-9AB0-754C68CA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1828800"/>
            <a:ext cx="28620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`run-hook verify_quick`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`save-work-checkpoint`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`resume-work`</a:t>
            </a:r>
            <a:endParaRPr sz="92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0245B5B-278D-4914-BB8D-B7F2950E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4720"/>
            <a:ext cx="315468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12700">
            <a:solidFill>
              <a:srgbClr val="2EAD65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C63F16C-EB1F-49D6-A7F7-A1622F92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584448"/>
            <a:ext cx="28620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完了前</a:t>
            </a:r>
            <a:endParaRPr sz="11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FBC824E-138F-4F3C-AF51-18B1439A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886200"/>
            <a:ext cx="28620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`run-hook verify_final`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`validate-docs`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`validate-self-review`</a:t>
            </a:r>
            <a:endParaRPr sz="9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34506CD-4524-4C85-AFFA-2D2F333F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474720"/>
            <a:ext cx="315468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2700">
            <a:solidFill>
              <a:srgbClr val="F2A100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A4948FC-9DD2-41DD-95B9-31DB8AEE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3584448"/>
            <a:ext cx="28620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2A100"/>
                </a:solidFill>
                <a:latin typeface="Yu Gothic"/>
                <a:ea typeface="Yu Gothic"/>
                <a:cs typeface="Yu Gothic"/>
              </a:rPr>
              <a:t>保守</a:t>
            </a:r>
            <a:endParaRPr sz="11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B222837-5AB3-48F8-8949-BCFF2472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3886200"/>
            <a:ext cx="28620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`new-doc`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`save-implementation-contract`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`update-template`</a:t>
            </a:r>
            <a:endParaRPr sz="92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8A1A689-DA89-461A-8083-1F97DC7E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703320"/>
            <a:ext cx="3246120" cy="11430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2700">
            <a:solidFill>
              <a:srgbClr val="202A3A">
                <a:alpha val="0"/>
              </a:srgbClr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4F48276-8852-4CE9-A252-EE4C15C3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822192"/>
            <a:ext cx="2971800" cy="923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./scripts/agent/agent-context.sh 123</a:t>
            </a:r>
            <a:endParaRPr sz="840"/>
          </a:p>
          <a:p xmlns:a="http://schemas.openxmlformats.org/drawingml/2006/main">
            <a:pPr marL="0" indent="0">
              <a:buNone/>
            </a:pPr>
            <a:r>
              <a:rPr sz="84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./scripts/agent/run-hook.sh verify_quick</a:t>
            </a:r>
            <a:endParaRPr sz="840"/>
          </a:p>
          <a:p xmlns:a="http://schemas.openxmlformats.org/drawingml/2006/main">
            <a:pPr marL="0" indent="0">
              <a:buNone/>
            </a:pPr>
            <a:r>
              <a:rPr sz="84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./scripts/agent/validate-self-review.sh 123</a:t>
            </a:r>
            <a:endParaRPr sz="84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BA2A9A9-D419-47DE-8603-1205C83D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0760"/>
            <a:ext cx="10058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ポイント: エージェントはコマンド名を覚えるのではなく、phase workflowから必要なhelperを読む。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5877028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2052DB-427F-4000-BE78-3AEA6396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30E9E8F-2D53-4079-BEFF-FFD98CAB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3AC2963-0A99-4471-9F88-876563CD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SELF REVIEW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04FFF9F-8167-4541-BF9B-460D7026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セルフレビュー：会話の記憶ではなく、commit済みHEADへ固定する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812ED77-3BDA-4FDD-BE0E-2B13B6F2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PR前のレビュー品質を安定させるため、Issue checklist + contract checklist + SHA + HEADを検証する。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B595FB5-934A-4988-BF48-379C7201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18</a:t>
            </a:r>
            <a:endParaRPr sz="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F030879-80C7-4CB4-93FF-9FAFAB5B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23317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1E64D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D33E871-85AE-4907-8CC7-9D538059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618488"/>
            <a:ext cx="21122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Issue Reviewer Checklist</a:t>
            </a:r>
            <a:endParaRPr sz="12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72843EA-227B-4C1F-94EA-54D5EF5F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947672"/>
            <a:ext cx="20939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task-specific risk</a:t>
            </a:r>
            <a:endParaRPr sz="830"/>
          </a:p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acceptanceだけでは不足する観点</a:t>
            </a:r>
            <a:endParaRPr sz="83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C1FFAD0-9954-4506-B8F7-6BD857E8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34640"/>
            <a:ext cx="233172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12700">
            <a:solidFill>
              <a:srgbClr val="6C4EE6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A280655-F100-465B-95FF-E037D056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944368"/>
            <a:ext cx="21122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6C4EE6"/>
                </a:solidFill>
                <a:latin typeface="Yu Gothic"/>
                <a:ea typeface="Yu Gothic"/>
                <a:cs typeface="Yu Gothic"/>
              </a:rPr>
              <a:t>Implementation Contract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361D154-484D-4EBF-8EFE-1E4AB1D1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273552"/>
            <a:ext cx="20939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外部AI/人間が作成した</a:t>
            </a:r>
            <a:endParaRPr sz="830"/>
          </a:p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decision-complete handoff</a:t>
            </a:r>
            <a:endParaRPr sz="83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E470E21-7801-4125-828C-5BD5E7E9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1965960"/>
            <a:ext cx="850392" cy="640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67140EF-3B63-4252-92EF-7F8AA459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127248" y="2788920"/>
            <a:ext cx="850392" cy="50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C48D2E7-CA13-4911-AA0C-29060894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331720"/>
            <a:ext cx="246888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6FAFA"/>
          </a:solidFill>
          <a:ln xmlns:a="http://schemas.openxmlformats.org/drawingml/2006/main" w="12700">
            <a:solidFill>
              <a:srgbClr val="00A6A6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C8D0A76-B019-4C29-A07F-5C08554D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08" y="2441448"/>
            <a:ext cx="22494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A6A6"/>
                </a:solidFill>
                <a:latin typeface="Yu Gothic"/>
                <a:ea typeface="Yu Gothic"/>
                <a:cs typeface="Yu Gothic"/>
              </a:rPr>
              <a:t>prepare-self-review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A96DCBB-F918-4271-985F-BF64DF66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952" y="2770632"/>
            <a:ext cx="22311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effective checklist + sha256</a:t>
            </a:r>
            <a:endParaRPr sz="830"/>
          </a:p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self-review.md生成</a:t>
            </a:r>
            <a:endParaRPr sz="83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EE2C62E-7567-434F-9AF5-51A2E283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816352"/>
            <a:ext cx="731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0B320BA-5262-4F11-86E4-59E1FE46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331720"/>
            <a:ext cx="196596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12700">
            <a:solidFill>
              <a:srgbClr val="2EAD65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94ECBAF-942B-49D3-AD18-F1125770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2441448"/>
            <a:ext cx="17465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Committed HEAD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37FC83B-D3B8-4B85-BA77-D0A03D53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2770632"/>
            <a:ext cx="172821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Reviewed-HEAD = current commit</a:t>
            </a:r>
            <a:endParaRPr sz="830"/>
          </a:p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worktree clean required</a:t>
            </a:r>
            <a:endParaRPr sz="83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9C14256-0153-45E5-98DF-0044AB27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816352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D84983C-8C9A-4AF2-B36F-E91BA3DF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2331720"/>
            <a:ext cx="16002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2700">
            <a:solidFill>
              <a:srgbClr val="F2A100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29BC356-7535-4D71-BB94-5FE7A92D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408" y="2441448"/>
            <a:ext cx="13807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2A100"/>
                </a:solidFill>
                <a:latin typeface="Yu Gothic"/>
                <a:ea typeface="Yu Gothic"/>
                <a:cs typeface="Yu Gothic"/>
              </a:rPr>
              <a:t>validate-self-review</a:t>
            </a:r>
            <a:endParaRPr sz="12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3BC3F86-5F67-4959-AF1F-D2DC23E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770632"/>
            <a:ext cx="136245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PENDING / FAIL / stale HEAD</a:t>
            </a:r>
            <a:endParaRPr sz="830"/>
          </a:p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missing evidenceを拒否</a:t>
            </a:r>
            <a:endParaRPr sz="83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BEF8D88-AC93-4A1E-8C50-70E265A1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2040"/>
            <a:ext cx="10058400" cy="9144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2700">
            <a:solidFill>
              <a:srgbClr val="202A3A">
                <a:alpha val="0"/>
              </a:srgbClr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5CBAF95-1021-48F3-8BA4-5188E49A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010912"/>
            <a:ext cx="978408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Reviewed-HEAD: &lt;40-char commit sha&gt;</a:t>
            </a:r>
            <a:endParaRPr sz="870"/>
          </a:p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- I001 | PASS | Evidence: test:csv_export_roundtrip cmd:cargo_test</a:t>
            </a:r>
            <a:endParaRPr sz="870"/>
          </a:p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- I002 | N/A  | Reason: no public API change in this task</a:t>
            </a:r>
            <a:endParaRPr sz="87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02EE6CC-5ED4-4593-9033-75C2F0E2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0760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20" b="1">
                <a:solidFill>
                  <a:srgbClr val="D94545"/>
                </a:solidFill>
                <a:latin typeface="Yu Gothic"/>
                <a:ea typeface="Yu Gothic"/>
                <a:cs typeface="Yu Gothic"/>
              </a:rPr>
              <a:t>新しいcommitが入った時点で以前のself-reviewはstale。再度diff全体を見てvalidateする。</a:t>
            </a:r>
            <a:endParaRPr sz="1120"/>
          </a:p>
        </p:txBody>
      </p:sp>
    </p:spTree>
    <p:extLst>
      <p:ext uri="{BB962C8B-B14F-4D97-AF65-F5344CB8AC3E}">
        <p14:creationId xmlns:p14="http://schemas.microsoft.com/office/powerpoint/2010/main" val="2211484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A99D338-4256-4F74-A84F-2DABD4C5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C4F0037-7AED-4F52-A5EA-50BC59BE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A173443-C9A5-4C21-AF41-566F7927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GITHUB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1E61B7C-83DA-4F62-A66A-DC4EB07C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GitHub運用：Issue labels / templates / PR bodyを標準化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293C5E5-F3BD-4456-A47C-E064F706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AIエージェントはGitHub上の状態を読んで、次に読むworkflow文書を決める。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0D9BE9C-BB1D-4289-8E36-91A27A68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19</a:t>
            </a:r>
            <a:endParaRPr sz="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C9EE17F-1AB0-445D-8229-CF7052B5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08760"/>
            <a:ext cx="251460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95C58DD-9922-49F5-9B93-3A69CC0C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581912"/>
            <a:ext cx="236829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phase:requirements</a:t>
            </a:r>
            <a:endParaRPr sz="8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E5E6C2B-5DF9-4FA1-AD3E-A4408E2D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508760"/>
            <a:ext cx="251460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7433D77-FD8F-473F-9F8F-4EB88233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581912"/>
            <a:ext cx="236829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6C4EE6"/>
                </a:solidFill>
                <a:latin typeface="Yu Gothic"/>
                <a:ea typeface="Yu Gothic"/>
                <a:cs typeface="Yu Gothic"/>
              </a:rPr>
              <a:t>phase:design</a:t>
            </a:r>
            <a:endParaRPr sz="8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3D6B044-CF05-4E98-BAA9-8708BCA8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508760"/>
            <a:ext cx="251460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2767D7A-A8F0-44F7-9EB7-B54F0783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1581912"/>
            <a:ext cx="236829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0A6A6"/>
                </a:solidFill>
                <a:latin typeface="Yu Gothic"/>
                <a:ea typeface="Yu Gothic"/>
                <a:cs typeface="Yu Gothic"/>
              </a:rPr>
              <a:t>phase:ready</a:t>
            </a:r>
            <a:endParaRPr sz="8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39F53C1-ABB2-4131-99BF-D38D910F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680"/>
            <a:ext cx="251460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34CC7F5-C8BE-4DB8-A8FA-2BAB194C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084832"/>
            <a:ext cx="236829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phase:implementation</a:t>
            </a:r>
            <a:endParaRPr sz="8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A0C0078-3C66-4FAF-82AB-BFF96394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011680"/>
            <a:ext cx="251460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743BE1E-4761-40D0-B75A-CD4593B7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084832"/>
            <a:ext cx="236829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2A100"/>
                </a:solidFill>
                <a:latin typeface="Yu Gothic"/>
                <a:ea typeface="Yu Gothic"/>
                <a:cs typeface="Yu Gothic"/>
              </a:rPr>
              <a:t>phase:review</a:t>
            </a:r>
            <a:endParaRPr sz="8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A8CFA2A-ABC1-4BCF-929A-56CD08CC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011680"/>
            <a:ext cx="251460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1D8F096-7CDF-4D05-8A0A-B2C0708D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2084832"/>
            <a:ext cx="236829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D94545"/>
                </a:solidFill>
                <a:latin typeface="Yu Gothic"/>
                <a:ea typeface="Yu Gothic"/>
                <a:cs typeface="Yu Gothic"/>
              </a:rPr>
              <a:t>needs-user-decision</a:t>
            </a:r>
            <a:endParaRPr sz="8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64AB848-6B6C-4F10-93A9-FFB54EDB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14600"/>
            <a:ext cx="251460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2700">
            <a:solidFill>
              <a:srgbClr val="FDECEC">
                <a:alpha val="0"/>
              </a:srgbClr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27EB4D2-EE26-42DF-B0FB-9807D631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87752"/>
            <a:ext cx="2368296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D94545"/>
                </a:solidFill>
                <a:latin typeface="Yu Gothic"/>
                <a:ea typeface="Yu Gothic"/>
                <a:cs typeface="Yu Gothic"/>
              </a:rPr>
              <a:t>blocked</a:t>
            </a:r>
            <a:endParaRPr sz="8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7AD35F12-65BF-4860-9DC5-6798A579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08960"/>
            <a:ext cx="33832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1E64D8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E33DA36-254E-4A01-9653-D0F2727A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218688"/>
            <a:ext cx="30906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Issue Form</a:t>
            </a:r>
            <a:endParaRPr sz="11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682508F-BC4F-4769-847E-404B78E4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520440"/>
            <a:ext cx="3090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Feature/Bugの初期入力欄を用意。最初からphase:requirementsを付ける。</a:t>
            </a:r>
            <a:endParaRPr sz="92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73A3127-228E-4685-94DE-836AB3E2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108960"/>
            <a:ext cx="33832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12700">
            <a:solidFill>
              <a:srgbClr val="2EAD65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455EC2F-5330-4FC5-97C6-18E2DDE4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3218688"/>
            <a:ext cx="30906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PR Template</a:t>
            </a:r>
            <a:endParaRPr sz="11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031789C-0656-4176-974B-EF3971C7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3520440"/>
            <a:ext cx="3090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Purpose / Delta / Design deviations / Verification / Risk / Reviewer focus / Closes #issue。</a:t>
            </a:r>
            <a:endParaRPr sz="92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B4A36B2B-3E8D-4F85-8FFB-DA91C6E6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108960"/>
            <a:ext cx="33832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2700">
            <a:solidFill>
              <a:srgbClr val="F2A100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8E1F302-FB7B-4838-96A4-666369E7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218688"/>
            <a:ext cx="30906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2A100"/>
                </a:solidFill>
                <a:latin typeface="Yu Gothic"/>
                <a:ea typeface="Yu Gothic"/>
                <a:cs typeface="Yu Gothic"/>
              </a:rPr>
              <a:t>setup-github</a:t>
            </a:r>
            <a:endParaRPr sz="11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2832E72-6554-4FE3-8EDC-A2B28A25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520440"/>
            <a:ext cx="309067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必要labelを作成/更新。リポジトリ移植後の初回セットアップに使う。</a:t>
            </a:r>
            <a:endParaRPr sz="92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C6FA043D-9A6B-4FCE-B4E6-9FD1B5BD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2040"/>
            <a:ext cx="10058400" cy="841248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2700">
            <a:solidFill>
              <a:srgbClr val="202A3A">
                <a:alpha val="0"/>
              </a:srgbClr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6E8534C0-70B8-46AD-AC05-B978D6B5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010912"/>
            <a:ext cx="97840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./scripts/agent/setup-github.sh</a:t>
            </a:r>
            <a:endParaRPr sz="90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gh issue edit 123 --add-label phase:design</a:t>
            </a:r>
            <a:endParaRPr sz="90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gh pr create --body-file pr-body.md</a:t>
            </a:r>
            <a:endParaRPr sz="9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563302C-EE6A-43BE-A127-A875976E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53328"/>
            <a:ext cx="10058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GitHub Markdownの複数行本文は body-file を使い、literal `\n` を改行代わりにしない。</a:t>
            </a:r>
            <a:endParaRPr sz="1120"/>
          </a:p>
        </p:txBody>
      </p:sp>
    </p:spTree>
    <p:extLst>
      <p:ext uri="{BB962C8B-B14F-4D97-AF65-F5344CB8AC3E}">
        <p14:creationId xmlns:p14="http://schemas.microsoft.com/office/powerpoint/2010/main" val="148534043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8EB650-4A1D-4B9B-89C0-9EF93059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E27FE9F-FBEB-4938-9ABE-A7D55106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980B1A8-57F4-4431-9CF9-846ACB51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TEMPLATE UPDATE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C0CE744-4086-4BCC-B7F7-3E8E4EF1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template改善を安全に反映し、文書migrationを明示する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775CA86-5235-4D50-9E09-7C1761CF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managed filesとproject docsを分け、移行対象を示して安全に追従する。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0E61AC9-60C3-4DAF-A79B-3259594A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20</a:t>
            </a:r>
            <a:endParaRPr sz="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28769A4-2E0B-4143-A681-7B301416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91640"/>
            <a:ext cx="224028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1E64D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C5B0843-3063-4F7C-BAD6-08EC4C0C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801368"/>
            <a:ext cx="20208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Template repo</a:t>
            </a:r>
            <a:endParaRPr sz="12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FAA205E-C0C0-4327-8CB1-0B947F69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130552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AGENTS / workflow / standards</a:t>
            </a:r>
            <a:endParaRPr sz="830"/>
          </a:p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scripts / presentation</a:t>
            </a:r>
            <a:endParaRPr sz="83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05192AF-57D3-46DE-AAF2-10AF243E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91640"/>
            <a:ext cx="224028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12700">
            <a:solidFill>
              <a:srgbClr val="6C4EE6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1092A05-A221-4825-A0B9-836765BD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1801368"/>
            <a:ext cx="20208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6C4EE6"/>
                </a:solidFill>
                <a:latin typeface="Yu Gothic"/>
                <a:ea typeface="Yu Gothic"/>
                <a:cs typeface="Yu Gothic"/>
              </a:rPr>
              <a:t>Managed manifest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AF33E8B-FA7E-4B46-95C8-3D75FB74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72" y="2130552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managed files + template/doc schema</a:t>
            </a:r>
            <a:endParaRPr sz="830"/>
          </a:p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前回hashを記録</a:t>
            </a:r>
            <a:endParaRPr sz="83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AD1E319-D9BB-4FE0-A664-0889CDF0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691640"/>
            <a:ext cx="224028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12700">
            <a:solidFill>
              <a:srgbClr val="2EAD65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3F15A23-1F25-4557-A415-034D3F4E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1801368"/>
            <a:ext cx="20208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Target project</a:t>
            </a:r>
            <a:endParaRPr sz="12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765B119-D512-4EF5-BEBD-B3E18877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130552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project overrides / product docs</a:t>
            </a:r>
            <a:endParaRPr sz="830"/>
          </a:p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source codeは保持</a:t>
            </a:r>
            <a:endParaRPr sz="83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BF66BAD-EE64-4EA9-A9BB-568A756E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1691640"/>
            <a:ext cx="224028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2700">
            <a:solidFill>
              <a:srgbClr val="F2A10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BE7D6F8-7CB7-4109-AECF-25AC6CAD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1801368"/>
            <a:ext cx="20208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2A100"/>
                </a:solidFill>
                <a:latin typeface="Yu Gothic"/>
                <a:ea typeface="Yu Gothic"/>
                <a:cs typeface="Yu Gothic"/>
              </a:rPr>
              <a:t>Conflict / migration</a:t>
            </a:r>
            <a:endParaRPr sz="12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658F833-6B84-49CC-859A-3FEA67D0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2130552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conflictはexit 2</a:t>
            </a:r>
            <a:endParaRPr sz="830"/>
          </a:p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migrationはexit 3</a:t>
            </a:r>
            <a:endParaRPr sz="83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239D8CE-16CE-4F75-B9BC-137153CB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176272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A2EFAEF-9E5C-4507-9419-DC79E9EF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176272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F0A47181-0AB5-4FE3-9F96-93E95CB5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176272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9BDF617-652A-4400-8911-AEDD66C1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48006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12700">
            <a:solidFill>
              <a:srgbClr val="2EAD65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FD9DD9C-A958-43C3-B321-5767C3FD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3767328"/>
            <a:ext cx="45079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安全な更新ルール</a:t>
            </a:r>
            <a:endParaRPr sz="11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B6194DD-8C4C-4C65-8F6B-DECF052B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4069080"/>
            <a:ext cx="450799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前回hashと一致すれば更新。両側変更はconflict。schema migrationのpathを示し、project docsは変更しない。</a:t>
            </a:r>
            <a:endParaRPr sz="92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DE804E28-B5D2-417E-B071-EA34FB08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57600"/>
            <a:ext cx="4800600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FAFA"/>
          </a:solidFill>
          <a:ln xmlns:a="http://schemas.openxmlformats.org/drawingml/2006/main" w="12700">
            <a:solidFill>
              <a:srgbClr val="00A6A6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3865E39-90DB-4A06-8FCE-BFBA5137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3767328"/>
            <a:ext cx="45079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A6A6"/>
                </a:solidFill>
                <a:latin typeface="Yu Gothic"/>
                <a:ea typeface="Yu Gothic"/>
                <a:cs typeface="Yu Gothic"/>
              </a:rPr>
              <a:t>保持するもの</a:t>
            </a:r>
            <a:endParaRPr sz="11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FA2B2DB-8923-4DB3-9281-BCFE9141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4069080"/>
            <a:ext cx="450799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`.agent/project.json` のhooks、product spec/design/status、source code、Issue stateを保持。文書migrationはproject側で判断する。</a:t>
            </a:r>
            <a:endParaRPr sz="92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7E8C6DA7-2DF9-40CA-8653-BAEA0FCD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6360"/>
            <a:ext cx="10058400" cy="73152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2700">
            <a:solidFill>
              <a:srgbClr val="202A3A">
                <a:alpha val="0"/>
              </a:srgbClr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7429C0D-7621-4FD0-A9B8-7951690E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285232"/>
            <a:ext cx="978408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./scripts/agent/update-template.sh --source ../ai-agent-project-template</a:t>
            </a:r>
            <a:endParaRPr sz="90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./scripts/agent/update-template.sh --source ../ai-agent-project-template --check
# exit 2=conflict; 3=docs migration; no writes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7174245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02C03E4-2925-41FF-96FE-F298375E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C3221B1-492B-4E56-8E70-638C8F74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62EB6C7-1F3C-4FFD-8071-E0918D9F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UPDATE PROCEDURE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44E5E56-DB5B-45A4-8901-2B659576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更新手順：managed filesと文書migrationを確認する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C396A40-EB24-40E2-80A9-CED94B98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checkで競合と文書migrationを報告する。project文書は利用側が判断して更新する。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E5BCF83-DF2A-40A5-8506-244B8FDF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21</a:t>
            </a:r>
            <a:endParaRPr sz="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904C83A-23E0-4FC5-AEA5-147895B2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08760"/>
            <a:ext cx="384048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  <a:endParaRPr sz="17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498BBC8-BC5A-46D1-8902-397A1A30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463040"/>
            <a:ext cx="26517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1E64D8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A57FBEE-F4DA-4BEA-B1BC-D6C21E28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1572768"/>
            <a:ext cx="23591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テンプレートを取得</a:t>
            </a:r>
            <a:endParaRPr sz="11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9DFEE64-6714-406A-AF62-BCDE7420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1874520"/>
            <a:ext cx="23591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`git pull` or ZIP展開</a:t>
            </a:r>
            <a:endParaRPr sz="92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45A70E3-F14F-4300-8826-468957C7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508760"/>
            <a:ext cx="384048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  <a:endParaRPr sz="17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D8C4CF1-953C-4A8F-A917-43106EF5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463040"/>
            <a:ext cx="26517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12700">
            <a:solidFill>
              <a:srgbClr val="6C4EE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986420E-789E-42EA-AA5B-0E39BF11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784" y="1572768"/>
            <a:ext cx="23591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6C4EE6"/>
                </a:solidFill>
                <a:latin typeface="Yu Gothic"/>
                <a:ea typeface="Yu Gothic"/>
                <a:cs typeface="Yu Gothic"/>
              </a:rPr>
              <a:t>対象repoでcheck</a:t>
            </a:r>
            <a:endParaRPr sz="11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8C199BC-FF5E-43BC-BD67-7F2FFB78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784" y="1874520"/>
            <a:ext cx="23591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`update-template --check`
exit 2: conflict / 3: doc migration</a:t>
            </a:r>
            <a:endParaRPr sz="92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B062ED3-9E19-4577-85F9-B1C3B21A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508760"/>
            <a:ext cx="384048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  <a:endParaRPr sz="17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A9A5D95-F156-43E0-8E95-0D1D322E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63040"/>
            <a:ext cx="26517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FAFA"/>
          </a:solidFill>
          <a:ln xmlns:a="http://schemas.openxmlformats.org/drawingml/2006/main" w="12700">
            <a:solidFill>
              <a:srgbClr val="00A6A6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1964A8E-13EE-4F22-B79A-AF09816A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1572768"/>
            <a:ext cx="23591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A6A6"/>
                </a:solidFill>
                <a:latin typeface="Yu Gothic"/>
                <a:ea typeface="Yu Gothic"/>
                <a:cs typeface="Yu Gothic"/>
              </a:rPr>
              <a:t>差分確認</a:t>
            </a:r>
            <a:endParaRPr sz="11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6B8A20C-FD97-4C27-BFDE-F3C43E80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1874520"/>
            <a:ext cx="23591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managed diff + MIGRATION_REQUIRED pathsを確認</a:t>
            </a:r>
            <a:endParaRPr sz="92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0C12B0D-A909-4A38-8A6A-A024F736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29000"/>
            <a:ext cx="384048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  <a:endParaRPr sz="17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9E1874E-84B3-487C-BF9D-94601F87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383280"/>
            <a:ext cx="26517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12700">
            <a:solidFill>
              <a:srgbClr val="2EAD65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FC2B267-EDC7-4796-8BAE-9D5ABBE9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3493008"/>
            <a:ext cx="23591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衝突・移行を解決</a:t>
            </a:r>
            <a:endParaRPr sz="11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AF7950F-37C6-4478-BBFB-4CB5CB41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64" y="3794760"/>
            <a:ext cx="23591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overrideを保持し、project docsをschema2へ手動移行</a:t>
            </a:r>
            <a:endParaRPr sz="92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03B9B94-482A-4ED4-9C43-562D25B8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429000"/>
            <a:ext cx="384048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  <a:endParaRPr sz="17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CAA14C1-4F98-493F-A2C4-AF61656F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383280"/>
            <a:ext cx="26517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2700">
            <a:solidFill>
              <a:srgbClr val="F2A100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D06A0D0-2CDF-4037-8BDA-FDFDCF51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784" y="3493008"/>
            <a:ext cx="23591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2A100"/>
                </a:solidFill>
                <a:latin typeface="Yu Gothic"/>
                <a:ea typeface="Yu Gothic"/>
                <a:cs typeface="Yu Gothic"/>
              </a:rPr>
              <a:t>検証</a:t>
            </a:r>
            <a:endParaRPr sz="11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94B9646-1CF3-4703-A391-4A72AEE3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784" y="3794760"/>
            <a:ext cx="23591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`validate-docs` + configured hooks</a:t>
            </a:r>
            <a:endParaRPr sz="92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DA0AB9B-F413-4EE4-A174-E40D1369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429000"/>
            <a:ext cx="384048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6</a:t>
            </a:r>
            <a:endParaRPr sz="17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793790B4-BAAF-4689-BAF2-B39FEE63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83280"/>
            <a:ext cx="26517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2700">
            <a:solidFill>
              <a:srgbClr val="D94545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292ECEE-F23B-4256-AA53-B673326B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3493008"/>
            <a:ext cx="23591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D94545"/>
                </a:solidFill>
                <a:latin typeface="Yu Gothic"/>
                <a:ea typeface="Yu Gothic"/>
                <a:cs typeface="Yu Gothic"/>
              </a:rPr>
              <a:t>PR化</a:t>
            </a:r>
            <a:endParaRPr sz="11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B450350-D837-4371-9EF8-EB491834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3794760"/>
            <a:ext cx="23591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テンプレート更新専用PR</a:t>
            </a:r>
            <a:endParaRPr sz="92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EFC0A029-EAFA-401F-A5EA-A31CA9DD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10424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PRで確認: workflowとproject policy、hooks、schema migration、説明資料が整合しているか。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9416676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D81A646-BE9A-43D7-9135-96B2D250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1B557F6-B277-46BC-A01B-D035FAE9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D09AF3F-936B-4E77-BB2D-5275B96F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UPDATE CONFLICTS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814FBD7-1527-4D43-949A-4623212C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テンプレート更新：3-wayで自動更新と衝突を判定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316B2F7-06FB-4440-8CFA-69F0DDE7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「新しいtemplate」と「前回同期時」と「現在のtarget」を比較し、project固有変更を黙って消さない。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4ED370E-71A7-419F-AB1A-9876CF98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22</a:t>
            </a:r>
            <a:endParaRPr sz="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66F01D2-154C-4DAE-9A03-25F9B9FC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196596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</p:spPr>
        <p:txBody>
          <a:bodyPr xmlns:a="http://schemas.openxmlformats.org/drawingml/2006/main" wrap="square" lIns="508" tIns="508" rIns="508" bIns="508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Template changed?</a:t>
            </a:r>
            <a:endParaRPr sz="98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8E082B3-5A15-4F79-BDED-4FE84F20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325880"/>
            <a:ext cx="196596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</p:spPr>
        <p:txBody>
          <a:bodyPr xmlns:a="http://schemas.openxmlformats.org/drawingml/2006/main" wrap="square" lIns="508" tIns="508" rIns="508" bIns="508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Target changed?</a:t>
            </a:r>
            <a:endParaRPr sz="98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3BDC028-9093-40D7-A6FD-FA8786CA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325880"/>
            <a:ext cx="196596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</p:spPr>
        <p:txBody>
          <a:bodyPr xmlns:a="http://schemas.openxmlformats.org/drawingml/2006/main" wrap="square" lIns="508" tIns="508" rIns="508" bIns="508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判定</a:t>
            </a:r>
            <a:endParaRPr sz="98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069E101-83C1-42C1-8DB4-DD1E4FFF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325880"/>
            <a:ext cx="196596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</p:spPr>
        <p:txBody>
          <a:bodyPr xmlns:a="http://schemas.openxmlformats.org/drawingml/2006/main" wrap="square" lIns="508" tIns="508" rIns="508" bIns="508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処理</a:t>
            </a:r>
            <a:endParaRPr sz="98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900707F-465A-4CED-8375-7F2F2C37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325880"/>
            <a:ext cx="18288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</p:spPr>
        <p:txBody>
          <a:bodyPr xmlns:a="http://schemas.openxmlformats.org/drawingml/2006/main" wrap="square" lIns="508" tIns="508" rIns="508" bIns="508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理由</a:t>
            </a:r>
            <a:endParaRPr sz="98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B18931F-FB53-4D89-BAD0-8A608A85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3080"/>
            <a:ext cx="196596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No</a:t>
            </a:r>
            <a:endParaRPr sz="9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F595020-6D6C-4DDB-B97F-DE728CE7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783080"/>
            <a:ext cx="196596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No</a:t>
            </a:r>
            <a:endParaRPr sz="9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9008257-5BFF-47FA-84C5-6443C99D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783080"/>
            <a:ext cx="196596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No-op</a:t>
            </a:r>
            <a:endParaRPr sz="9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665AB55-B76E-4663-9B68-E2D20E78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783080"/>
            <a:ext cx="196596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何もしない</a:t>
            </a:r>
            <a:endParaRPr sz="9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37698A5-C895-4110-AFBA-24238436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783080"/>
            <a:ext cx="182880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両方とも前回同期と同じ</a:t>
            </a:r>
            <a:endParaRPr sz="9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B60B126-3B69-4EBB-9217-FE91DCFD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6040"/>
            <a:ext cx="196596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Yes</a:t>
            </a:r>
            <a:endParaRPr sz="9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4F4D6A4-F609-4E4B-B7BC-FC3DC111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606040"/>
            <a:ext cx="196596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No</a:t>
            </a:r>
            <a:endParaRPr sz="9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6E46EB8-E082-4AF9-B5A4-C1954BEF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606040"/>
            <a:ext cx="196596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Safe update</a:t>
            </a:r>
            <a:endParaRPr sz="9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FB6AD79-20A0-4E8D-BDAE-E2D82A61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606040"/>
            <a:ext cx="196596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自動置換</a:t>
            </a:r>
            <a:endParaRPr sz="9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B30B271-6D64-464D-9076-6EB88D5D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606040"/>
            <a:ext cx="182880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E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target側にlocal editなし</a:t>
            </a:r>
            <a:endParaRPr sz="9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F1D3F11-52DE-45D5-A1AA-E2247128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96596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No</a:t>
            </a:r>
            <a:endParaRPr sz="9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ACDB64C-5892-4374-8687-E61AC53E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429000"/>
            <a:ext cx="196596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Yes</a:t>
            </a:r>
            <a:endParaRPr sz="9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A870DA2-ABD0-449C-9381-92D2B6A4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429000"/>
            <a:ext cx="196596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Keep local</a:t>
            </a:r>
            <a:endParaRPr sz="9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4F6B471-1CAF-4429-B112-87F9C601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429000"/>
            <a:ext cx="196596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target維持</a:t>
            </a:r>
            <a:endParaRPr sz="9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7CCC266-9191-4E48-9A2F-7BA12A30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3429000"/>
            <a:ext cx="182880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project固有変更のみ</a:t>
            </a:r>
            <a:endParaRPr sz="9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25ACCCA-8491-41B0-929C-9175DA5E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1960"/>
            <a:ext cx="196596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Yes</a:t>
            </a:r>
            <a:endParaRPr sz="9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9176A92-923B-4670-B3FA-4931BA03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251960"/>
            <a:ext cx="196596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Yes</a:t>
            </a:r>
            <a:endParaRPr sz="9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ACC2619-2D0C-4850-B35A-D0F18202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4251960"/>
            <a:ext cx="196596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D94545"/>
                </a:solidFill>
                <a:latin typeface="Yu Gothic"/>
                <a:ea typeface="Yu Gothic"/>
                <a:cs typeface="Yu Gothic"/>
              </a:rPr>
              <a:t>Conflict</a:t>
            </a:r>
            <a:endParaRPr sz="9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8C235A5-3D8A-420F-A88B-C1F63383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251960"/>
            <a:ext cx="196596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incoming作成・停止</a:t>
            </a:r>
            <a:endParaRPr sz="9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A035F86-43DD-405F-9AA3-A4B98499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4251960"/>
            <a:ext cx="182880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8890">
            <a:solidFill>
              <a:srgbClr val="D5DEE8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双方変更。自動mergeしない</a:t>
            </a:r>
            <a:endParaRPr sz="95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7F667333-1593-4878-8ABA-CAC60B9A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03520"/>
            <a:ext cx="10149840" cy="8686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2700">
            <a:solidFill>
              <a:srgbClr val="202A3A">
                <a:alpha val="0"/>
              </a:srgbClr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CB3AD0CF-CAC2-4551-9621-9DC0C251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422392"/>
            <a:ext cx="9875520" cy="649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./scripts/agent/update-template.sh --source ../ai-agent-project-template --check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./scripts/agent/update-template.sh --source ../ai-agent-project-template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# exit 2: merge incoming-template; exit 3: update MIGRATION_REQUIRED docs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90769106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9CD238-FBE8-4AB2-8864-D398BF02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D8A0319-BC1D-44D0-9800-14EFA40E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4AB91D1-1FE1-4711-9E20-EB2131EA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ADOPTION: NEW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3FF476C-7736-4F76-94FD-B5A1E87B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新規プロジェクトへの導入手順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1C427E5-04DD-4B4D-BF12-3D61E473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GitHub template repositoryとして使う場合、最初の数分でAIエージェント向けの骨格を作る。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4477805-B261-43C2-8D70-ADFE6710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23</a:t>
            </a:r>
            <a:endParaRPr sz="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23A8FA1-2F24-4E28-A00F-EF606EAA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17320"/>
            <a:ext cx="5852160" cy="219456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2700">
            <a:solidFill>
              <a:srgbClr val="202A3A">
                <a:alpha val="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980EBB1-4E4D-400E-A6FB-A3320612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36192"/>
            <a:ext cx="5577840" cy="197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# 1. GitHub templateから新repoを作成</a:t>
            </a:r>
            <a:endParaRPr sz="870"/>
          </a:p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gh auth login</a:t>
            </a:r>
            <a:endParaRPr sz="870"/>
          </a:p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./scripts/agent/init-project.sh --stack rust --cargo-clean on</a:t>
            </a:r>
            <a:endParaRPr sz="870"/>
          </a:p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./scripts/agent/setup-github.sh</a:t>
            </a:r>
            <a:endParaRPr sz="870"/>
          </a:p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./scripts/agent/validate-docs.sh</a:t>
            </a:r>
            <a:endParaRPr sz="870"/>
          </a:p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git add . &amp;&amp; git commit -m "Initialize AI agent project workflow"</a:t>
            </a:r>
            <a:endParaRPr sz="87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AEB6CEB-3B3F-4CF6-AE19-65919628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417320"/>
            <a:ext cx="425196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1E64D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080D341-1F62-4577-A2DB-634942DC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1527048"/>
            <a:ext cx="39593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初回確認</a:t>
            </a:r>
            <a:endParaRPr sz="11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F343C5A-A1AF-497C-AED6-328E7808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1828800"/>
            <a:ext cx="395935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`.agent/project.json` のstacks/hooks、`docs/agents/project.md`、`.gitignore`、GitHub labels。</a:t>
            </a:r>
            <a:endParaRPr sz="92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1C9BB21-5A7E-4A58-84D2-1FF5D747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514600"/>
            <a:ext cx="425196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12700">
            <a:solidFill>
              <a:srgbClr val="6C4EE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1CB941A-35B4-4F5F-8B2D-39A7FCBF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2624328"/>
            <a:ext cx="39593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6C4EE6"/>
                </a:solidFill>
                <a:latin typeface="Yu Gothic"/>
                <a:ea typeface="Yu Gothic"/>
                <a:cs typeface="Yu Gothic"/>
              </a:rPr>
              <a:t>最初のIssue</a:t>
            </a:r>
            <a:endParaRPr sz="11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94DC0A3-48F4-4314-88AA-29F49C0D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2926080"/>
            <a:ext cx="395935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プロジェクト方針やMVPをrequirements phaseでIssue化し、spec/designの初期文書を作る。</a:t>
            </a:r>
            <a:endParaRPr sz="9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C7CE6F7-4312-4602-B734-62A07A33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611880"/>
            <a:ext cx="425196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12700">
            <a:solidFill>
              <a:srgbClr val="2EAD6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C0AEA05-82FE-4D88-A5B7-A44A7223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3721608"/>
            <a:ext cx="39593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最初に決めること</a:t>
            </a:r>
            <a:endParaRPr sz="11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43BB7F9-155C-439C-ACE7-D2E8360B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4023360"/>
            <a:ext cx="395935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CIゲート、ブランチ命名、version milestone、仕様書の粒度、docs/statusの運用範囲。</a:t>
            </a:r>
            <a:endParaRPr sz="92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8C2F516-D919-4DF9-9C63-9D4D00B5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0644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新規導入の成功条件: 「AIに任せるためのルール」をREADMEだけでなく、scriptsと検証ゲートまで含めてrepoに固定する。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4341147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BD600DB-E02E-4F47-B845-1AF07212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22DC1B-356A-4709-82CF-ACF3498C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DA08818-A0E0-4A2D-B361-83F59AF9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ADOPTION: EXISTING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66CB14B-1264-41C1-A768-1FAD1730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既存プロジェクトへの導入手順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A262248-7264-4613-9495-D87F6AE8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既存ルールを壊さず、AIエージェント向けの入口と文書責務を段階的に追加する。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C2BF3BE-023D-4CAE-BFE5-F4465D06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24</a:t>
            </a:r>
            <a:endParaRPr sz="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AD42A0A-03FC-418B-8BC3-D84AF484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99032"/>
            <a:ext cx="960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Step A</a:t>
            </a:r>
            <a:endParaRPr sz="11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D1FABAE-F7EE-4176-934D-BC814F1A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1399032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棚卸し</a:t>
            </a:r>
            <a:endParaRPr sz="11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B632561-5DF2-4517-8FAE-13FCB807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38074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既存AGENTS/CLAUDE/README/CI/docsを確認し、何が正本かを特定。</a:t>
            </a:r>
            <a:endParaRPr sz="108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86BE009-3585-40D3-9DAA-278BD3A8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801368"/>
            <a:ext cx="0" cy="3017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A737F44-6D58-4D09-981B-F11C9A46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67712"/>
            <a:ext cx="960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6C4EE6"/>
                </a:solidFill>
                <a:latin typeface="Yu Gothic"/>
                <a:ea typeface="Yu Gothic"/>
                <a:cs typeface="Yu Gothic"/>
              </a:rPr>
              <a:t>Step B</a:t>
            </a:r>
            <a:endParaRPr sz="11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0B29896-4C10-456D-B66C-3AF4EEC1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267712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コピー</a:t>
            </a:r>
            <a:endParaRPr sz="11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9553697-98F4-4B54-A254-F608451E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24942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docs/agent-workflow, docs/standards, docs/templates, scripts/agent, .agent を追加。</a:t>
            </a:r>
            <a:endParaRPr sz="108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0B06725-4C86-471A-ABE7-1AA47923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670048"/>
            <a:ext cx="0" cy="3017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E7FACB6-2301-43D7-8AEA-B32B1D20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36392"/>
            <a:ext cx="960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A6A6"/>
                </a:solidFill>
                <a:latin typeface="Yu Gothic"/>
                <a:ea typeface="Yu Gothic"/>
                <a:cs typeface="Yu Gothic"/>
              </a:rPr>
              <a:t>Step C</a:t>
            </a:r>
            <a:endParaRPr sz="11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7E10213-A9FF-452F-A90B-2610553A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136392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統合</a:t>
            </a:r>
            <a:endParaRPr sz="11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1090A98-61DA-4E95-8E4C-853A8FA8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11810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既存ルールをAGENTS.mdへ統合し、provider固有ファイルはrouter化。</a:t>
            </a:r>
            <a:endParaRPr sz="108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4AE60D0-5E90-4101-875B-8CE7F8A4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538728"/>
            <a:ext cx="0" cy="3017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E2ACA4D-7374-4F60-8525-4AC42061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05072"/>
            <a:ext cx="960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Step D</a:t>
            </a:r>
            <a:endParaRPr sz="11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465BB99-F723-4375-AC7D-B4C29845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4005072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初期化</a:t>
            </a:r>
            <a:endParaRPr sz="11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222938A-B68C-405D-804B-69E83BA5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98678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init-projectで技術profileを生成し、hooksをCIに合わせる。</a:t>
            </a:r>
            <a:endParaRPr sz="108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97CC185-54D2-43F2-8BBB-9ECFFEE4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407408"/>
            <a:ext cx="0" cy="3017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36BE18F-0FBF-49ED-9ED8-7AD9970C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73752"/>
            <a:ext cx="960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2A100"/>
                </a:solidFill>
                <a:latin typeface="Yu Gothic"/>
                <a:ea typeface="Yu Gothic"/>
                <a:cs typeface="Yu Gothic"/>
              </a:rPr>
              <a:t>Step E</a:t>
            </a:r>
            <a:endParaRPr sz="11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00F88BA-9476-4C9F-86B0-91F8D184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4873752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PR化</a:t>
            </a:r>
            <a:endParaRPr sz="11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0C010E0-43A7-4E80-B3CF-3FAD15D2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855464"/>
            <a:ext cx="7589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8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導入そのものをIssue/PRでレビューし、以後はphase workflowで運用。</a:t>
            </a:r>
            <a:endParaRPr sz="108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BBAE1978-9961-4E34-93D1-AC4B824D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9966960" cy="59436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2700">
            <a:solidFill>
              <a:srgbClr val="D94545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35C502B-352F-4CC2-822C-06CBE9C0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5824728"/>
            <a:ext cx="967435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D94545"/>
                </a:solidFill>
                <a:latin typeface="Yu Gothic"/>
                <a:ea typeface="Yu Gothic"/>
                <a:cs typeface="Yu Gothic"/>
              </a:rPr>
              <a:t>移行時の注意</a:t>
            </a:r>
            <a:endParaRPr sz="11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16415BF-FF83-4027-A3F8-C5BCFF9E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6126480"/>
            <a:ext cx="967435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既存docsを一括でspec/design/statusに移動しない。まず責務の対応表を作り、今後の変更から同期ルールを適用する。</a:t>
            </a:r>
            <a:endParaRPr sz="920"/>
          </a:p>
        </p:txBody>
      </p:sp>
    </p:spTree>
    <p:extLst>
      <p:ext uri="{BB962C8B-B14F-4D97-AF65-F5344CB8AC3E}">
        <p14:creationId xmlns:p14="http://schemas.microsoft.com/office/powerpoint/2010/main" val="7440379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0410F11-98A8-4C8D-8BC7-E8870309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58FB635-C000-47A6-AB5E-714EE129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5987EC9-2053-4178-B3E8-52D8A94C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EXAMPLE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E103BBC-3028-4578-9E87-118FF86A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運用例：CSV export機能を追加する場合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7529057-C697-4B02-87C7-BAEFDC23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この1枚で、通常の機能追加がどのように流れるかを確認できる。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5CE4DD4-9213-4D42-9BC1-7EBC5865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25</a:t>
            </a:r>
            <a:endParaRPr sz="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D126CF8-54F7-4151-A4C5-CF78C14F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3258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1E64D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D26EBBB-A155-447E-A448-AF126496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618488"/>
            <a:ext cx="11064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依頼</a:t>
            </a:r>
            <a:endParaRPr sz="12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05776A-5697-493F-A5A7-FE0AF448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947672"/>
            <a:ext cx="1088136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CSV exportを追加</a:t>
            </a:r>
            <a:endParaRPr sz="83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3C8567A-96DA-4519-9E4E-FA77976E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938528"/>
            <a:ext cx="576072" cy="50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0B92386-EB35-44CC-95A8-29A6623E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011680"/>
            <a:ext cx="13258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12700">
            <a:solidFill>
              <a:srgbClr val="6C4EE6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B79CC81-E68D-426E-868D-DEF3BC22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2121408"/>
            <a:ext cx="11064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6C4EE6"/>
                </a:solidFill>
                <a:latin typeface="Yu Gothic"/>
                <a:ea typeface="Yu Gothic"/>
                <a:cs typeface="Yu Gothic"/>
              </a:rPr>
              <a:t>Issue</a:t>
            </a:r>
            <a:endParaRPr sz="12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F73AB14-503B-4003-B885-4AE49628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2450592"/>
            <a:ext cx="1088136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scope / non-goal</a:t>
            </a:r>
            <a:endParaRPr sz="830"/>
          </a:p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acceptance</a:t>
            </a:r>
            <a:endParaRPr sz="83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80885F4-62A7-44BA-8C7A-D1D8F65B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931920" y="1938528"/>
            <a:ext cx="576072" cy="50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C664994-92EC-45A9-9A3C-DEF08B7D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508760"/>
            <a:ext cx="13258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6FAFA"/>
          </a:solidFill>
          <a:ln xmlns:a="http://schemas.openxmlformats.org/drawingml/2006/main" w="12700">
            <a:solidFill>
              <a:srgbClr val="00A6A6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25BD14F-73A1-47C4-8501-844EB420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618488"/>
            <a:ext cx="11064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A6A6"/>
                </a:solidFill>
                <a:latin typeface="Yu Gothic"/>
                <a:ea typeface="Yu Gothic"/>
                <a:cs typeface="Yu Gothic"/>
              </a:rPr>
              <a:t>Spec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8B6371F-29C8-4C31-96C9-71235490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1947672"/>
            <a:ext cx="1088136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CSV形式</a:t>
            </a:r>
            <a:endParaRPr sz="830"/>
          </a:p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エラー/互換性</a:t>
            </a:r>
            <a:endParaRPr sz="83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B2775CB-2E31-46D5-9C2F-AC1D62AE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938528"/>
            <a:ext cx="576072" cy="50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4E4323C-0647-4F62-A724-9060B888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011680"/>
            <a:ext cx="13258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12700">
            <a:solidFill>
              <a:srgbClr val="2EAD65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B7BA8FB-888A-4E24-AB1A-6D83D9DE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121408"/>
            <a:ext cx="11064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Design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3FC50B0-B72E-41A0-98EC-E556D666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2450592"/>
            <a:ext cx="1088136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module責務</a:t>
            </a:r>
            <a:endParaRPr sz="830"/>
          </a:p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streaming方針</a:t>
            </a:r>
            <a:endParaRPr sz="83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AD3B20F-C62E-4305-92C4-92BC723C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772400" y="1938528"/>
            <a:ext cx="576072" cy="50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E097B0C-ABEB-4689-B558-540A7AD0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508760"/>
            <a:ext cx="13258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2700">
            <a:solidFill>
              <a:srgbClr val="F2A100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7321ECB-D3C1-4945-9F5E-FA8A6EEF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1618488"/>
            <a:ext cx="11064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2A100"/>
                </a:solidFill>
                <a:latin typeface="Yu Gothic"/>
                <a:ea typeface="Yu Gothic"/>
                <a:cs typeface="Yu Gothic"/>
              </a:rPr>
              <a:t>Impl</a:t>
            </a:r>
            <a:endParaRPr sz="12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39A5753-9CF6-4BE2-B8EB-E415DF95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632" y="1947672"/>
            <a:ext cx="1088136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branch + tests</a:t>
            </a:r>
            <a:endParaRPr sz="830"/>
          </a:p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hooks</a:t>
            </a:r>
            <a:endParaRPr sz="83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BFE8CA0F-6B6E-425B-91FE-283D54EF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938528"/>
            <a:ext cx="576072" cy="50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0D37D4CF-2C82-406E-BA11-DB32A9BF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11680"/>
            <a:ext cx="13258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2700">
            <a:solidFill>
              <a:srgbClr val="D94545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DE9D257-2622-4E42-AE6F-2B73F490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121408"/>
            <a:ext cx="110642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D94545"/>
                </a:solidFill>
                <a:latin typeface="Yu Gothic"/>
                <a:ea typeface="Yu Gothic"/>
                <a:cs typeface="Yu Gothic"/>
              </a:rPr>
              <a:t>PR</a:t>
            </a:r>
            <a:endParaRPr sz="12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8E6DC1C-034A-4DF1-A6EA-15FDE516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2450592"/>
            <a:ext cx="1088136" cy="338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delta + evidence</a:t>
            </a:r>
            <a:endParaRPr sz="830"/>
          </a:p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review</a:t>
            </a:r>
            <a:endParaRPr sz="83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5987C03D-6D57-4135-9454-B44E700A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31920"/>
            <a:ext cx="10058400" cy="1691640"/>
          </a:xfrm>
          <a:prstGeom xmlns:a="http://schemas.openxmlformats.org/drawingml/2006/main" prst="roundRect">
            <a:avLst>
              <a:gd name="adj" fmla="val 1622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2700">
            <a:solidFill>
              <a:srgbClr val="202A3A">
                <a:alpha val="0"/>
              </a:srgbClr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6C2221B-0C48-47E8-B235-B26B8CE8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50792"/>
            <a:ext cx="9784080" cy="147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./scripts/agent/new-doc.sh specification export/csv --issue 123 --title "CSV Export"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./scripts/agent/new-doc.sh design export/csv --issue 123 --title "CSV Export"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./scripts/agent/prepare-self-review.sh 123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./scripts/agent/start-feature-branch.sh 123 "csv export"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./scripts/agent/run-hook.sh verify_final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./scripts/agent/validate-self-review.sh 123</a:t>
            </a:r>
            <a:endParaRPr sz="82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61FCC35-B570-48B8-B23D-D5CDDD9D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8932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成果物: Issueのacceptance、csv-export-spec.md、csv-export-design.md、実装、テスト、PR evidenceが一貫して残る。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24756357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7E9929C-DBF8-450B-B0ED-18C1C0C6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E0B545C-BCD3-4B54-8E1E-9F94D9E3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C1A7B28-49EA-4678-84A0-3E30F6F6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LESSONS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A0E0908-C0D3-4E8B-9AD1-D15E533B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過去運用から入れた改善点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7FD619F-A557-4B66-8108-9EB9C990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elwindui等のAIエージェント運用で実際に効いた制約を、汎用テンプレートへ移植。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D65B34C-4A4B-4601-A5B6-FF23ACE6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26</a:t>
            </a:r>
            <a:endParaRPr sz="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DE9E36E-79FA-42E6-A10B-36EB5C06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475488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1E64D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B618735-3771-4F52-8B58-494A1CA9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1435608"/>
            <a:ext cx="44622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Issue-first</a:t>
            </a:r>
            <a:endParaRPr sz="11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5F6ED9E-E7D1-45D7-8E4C-DA946014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1737360"/>
            <a:ext cx="44622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エージェントのPlan Modeより前にIssue所有を固定する。</a:t>
            </a:r>
            <a:endParaRPr sz="92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34D3E9E-5CCA-4A8C-B38A-6C86DE2B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325880"/>
            <a:ext cx="475488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12700">
            <a:solidFill>
              <a:srgbClr val="6C4EE6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2A2FE30-EC41-4240-B0E4-9F1BEE17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435608"/>
            <a:ext cx="44622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6C4EE6"/>
                </a:solidFill>
                <a:latin typeface="Yu Gothic"/>
                <a:ea typeface="Yu Gothic"/>
                <a:cs typeface="Yu Gothic"/>
              </a:rPr>
              <a:t>Body-file invariant</a:t>
            </a:r>
            <a:endParaRPr sz="11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01DD0FF-11DF-4864-9A50-8D7A0EDC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737360"/>
            <a:ext cx="44622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複数行Markdownはbody-file。literal \n 事故を防ぐ。</a:t>
            </a:r>
            <a:endParaRPr sz="9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D4E9C99-7C83-4F45-9012-2EF2771B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51760"/>
            <a:ext cx="475488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FAFA"/>
          </a:solidFill>
          <a:ln xmlns:a="http://schemas.openxmlformats.org/drawingml/2006/main" w="12700">
            <a:solidFill>
              <a:srgbClr val="00A6A6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EF28E42-3591-4938-B44F-E01C2601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2761488"/>
            <a:ext cx="44622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A6A6"/>
                </a:solidFill>
                <a:latin typeface="Yu Gothic"/>
                <a:ea typeface="Yu Gothic"/>
                <a:cs typeface="Yu Gothic"/>
              </a:rPr>
              <a:t>Exact contract mirror</a:t>
            </a:r>
            <a:endParaRPr sz="11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0847507-3706-4E3B-B36B-E3FDAA86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3063240"/>
            <a:ext cx="44622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Implementation ContractはSHA付きで保存し、要約からレビューしない。</a:t>
            </a:r>
            <a:endParaRPr sz="92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AD66C49-37B3-41C0-8E56-2249BBA2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651760"/>
            <a:ext cx="475488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12700">
            <a:solidFill>
              <a:srgbClr val="2EAD65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D809FC6-D4AE-4542-B377-FA3AEC98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761488"/>
            <a:ext cx="44622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HEAD-bound review</a:t>
            </a:r>
            <a:endParaRPr sz="11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8BDFC6-12B0-4E14-8BCC-296D87C8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63240"/>
            <a:ext cx="44622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self-reviewはcommit済みHEADに固定。新commitでstale。</a:t>
            </a:r>
            <a:endParaRPr sz="9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C7338BF-C5DD-4A46-A9AA-E14F1BE0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475488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2700">
            <a:solidFill>
              <a:srgbClr val="F2A100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2B2A268-7870-4D2B-9680-F15BFFAC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4087368"/>
            <a:ext cx="44622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2A100"/>
                </a:solidFill>
                <a:latin typeface="Yu Gothic"/>
                <a:ea typeface="Yu Gothic"/>
                <a:cs typeface="Yu Gothic"/>
              </a:rPr>
              <a:t>Docs are not logs</a:t>
            </a:r>
            <a:endParaRPr sz="11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C869ECE-4DC4-4E48-A062-6CE6C1B8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4389120"/>
            <a:ext cx="44622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statusに履歴や生ログを溜めず、Issue/PR/evidenceへ分離。</a:t>
            </a:r>
            <a:endParaRPr sz="92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E6F323D-FAD7-46B1-9834-6A523138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475488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2700">
            <a:solidFill>
              <a:srgbClr val="D94545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EDB1144-3CA9-49FD-8C1A-1AD700FB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4087368"/>
            <a:ext cx="44622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D94545"/>
                </a:solidFill>
                <a:latin typeface="Yu Gothic"/>
                <a:ea typeface="Yu Gothic"/>
                <a:cs typeface="Yu Gothic"/>
              </a:rPr>
              <a:t>Tech policy as data</a:t>
            </a:r>
            <a:endParaRPr sz="11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A1F24F8-4746-4907-B495-13000489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4389120"/>
            <a:ext cx="44622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cargo clean等はRust固有profileに置き、汎用workflowに埋め込まない。</a:t>
            </a:r>
            <a:endParaRPr sz="92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3280755-639B-4A61-8D7B-F616A6A5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97880"/>
            <a:ext cx="10058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これらは「AIが賢いか」ではなく「失敗してもプロセスが検出・停止できるか」を重視したルール。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57298965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48A939C-C67D-4011-8494-08A5AEDA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CE7CC57-253C-487B-909C-ABFF83C2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D0A3FD-7A47-4350-B4CA-4AD67EF6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CUSTOMIZATION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2E5D1C9-72DF-4F2D-8001-4BFE4983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カスタマイズポイント：変える場所と変えない場所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292EC7C-CBAC-4A82-9DC8-C412281C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テンプレート更新可能性を保つため、共通ルールとプロジェクト固有ルールの境界を守る。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8D43C9C-64F0-470D-A7C4-EDB8F5F2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27</a:t>
            </a:r>
            <a:endParaRPr sz="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754E742-A39E-4E56-859E-482F899D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08760"/>
            <a:ext cx="475488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12700">
            <a:solidFill>
              <a:srgbClr val="2EAD6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BCC1F98-1C4E-4900-BDC0-E2AC6017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1618488"/>
            <a:ext cx="44622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変える場所</a:t>
            </a:r>
            <a:endParaRPr sz="11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E9397BC-4F0B-4B6E-867B-2A063FED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1920240"/>
            <a:ext cx="446227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`.agent/project.json`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`docs/agents/project.md`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技術別guide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CI/workflow-specific hooks</a:t>
            </a:r>
            <a:endParaRPr sz="92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A84255-C7D7-4D89-8860-6FE7DA86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508760"/>
            <a:ext cx="475488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2700">
            <a:solidFill>
              <a:srgbClr val="F2A100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1D19EEA-371E-4323-B84B-36F0B92B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1618488"/>
            <a:ext cx="44622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2A100"/>
                </a:solidFill>
                <a:latin typeface="Yu Gothic"/>
                <a:ea typeface="Yu Gothic"/>
                <a:cs typeface="Yu Gothic"/>
              </a:rPr>
              <a:t>慎重に変える場所</a:t>
            </a:r>
            <a:endParaRPr sz="11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58BD8D3-2BC6-49D9-9559-B3FBBA62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1920240"/>
            <a:ext cx="446227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`AGENTS.md`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`docs/agent-workflow/*`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`scripts/agent/*`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`docs/standards/*`</a:t>
            </a:r>
            <a:endParaRPr sz="9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D54270B-398D-4BF6-8611-8008F583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212848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7366ECB-81D6-4F42-886D-8328393A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03320"/>
            <a:ext cx="10058400" cy="77724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1E64D8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E2A3925-EB59-45FD-8C6C-6A2F1008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3813048"/>
            <a:ext cx="97657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更新時に守る境界</a:t>
            </a:r>
            <a:endParaRPr sz="11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B194CDE-1A47-4380-8B15-D62102EB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4114800"/>
            <a:ext cx="9765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共通ファイルを直接forkしすぎるとテンプレート改善を取り込みづらくなる。プロジェクト固有差分はprofile/agents guideに寄せる。</a:t>
            </a:r>
            <a:endParaRPr sz="92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2D96728-32DC-426C-A717-6FB5D269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46320"/>
            <a:ext cx="10058400" cy="9601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2700">
            <a:solidFill>
              <a:srgbClr val="202A3A">
                <a:alpha val="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7BF7455-3C64-4A28-908B-16727241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965192"/>
            <a:ext cx="9784080" cy="740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# Good: project-specific policy as profile data</a:t>
            </a:r>
            <a:endParaRPr sz="870"/>
          </a:p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"hooks": { "verify_final": ["cargo test --workspace", "npm test"] }</a:t>
            </a:r>
            <a:endParaRPr sz="870"/>
          </a:p>
          <a:p xmlns:a="http://schemas.openxmlformats.org/drawingml/2006/main">
            <a:pPr marL="0" indent="0">
              <a:buNone/>
            </a:pPr>
            <a:endParaRPr sz="870"/>
          </a:p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# Avoid: hard-code project-specific commands into workflow docs</a:t>
            </a:r>
            <a:endParaRPr sz="870"/>
          </a:p>
        </p:txBody>
      </p:sp>
    </p:spTree>
    <p:extLst>
      <p:ext uri="{BB962C8B-B14F-4D97-AF65-F5344CB8AC3E}">
        <p14:creationId xmlns:p14="http://schemas.microsoft.com/office/powerpoint/2010/main" val="82676037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87ABE55-A5D6-492D-9908-01AD1EA0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A69C3B1-C5C7-4A02-AAB5-64AE48AC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FCFF9DE-E374-4FB4-B18D-382C1F33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ROLLOUT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A9672F3-D1A1-4AED-9E81-EE1D2030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導入計画と成功指標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FC2C6A3-87F3-47DF-97EA-65374FA3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まず1リポジトリで試し、テンプレート更新・既存プロジェクト反映まで含めて検証する。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A8524AE-F449-42F2-B7D1-6BDEA4B4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28</a:t>
            </a:r>
            <a:endParaRPr sz="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C4FE1A4-C4EA-40DE-AD40-A978DC81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08760"/>
            <a:ext cx="20574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1E64D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8071329-8608-4EFE-A745-15D6C0C9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618488"/>
            <a:ext cx="18379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Pilot</a:t>
            </a:r>
            <a:endParaRPr sz="12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3001EDE-6CB4-4350-907F-53236F01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47672"/>
            <a:ext cx="181965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1 repoで導入</a:t>
            </a:r>
            <a:endParaRPr sz="830"/>
          </a:p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1〜2件の小Issueで試す</a:t>
            </a:r>
            <a:endParaRPr sz="83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F07FCD-C4A9-4F32-AF2C-0F1AECA2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993392"/>
            <a:ext cx="658368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DD219BA-71FA-4543-A9C7-A1A17453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920240"/>
            <a:ext cx="20574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12700">
            <a:solidFill>
              <a:srgbClr val="6C4EE6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6448697-8C46-4CB2-AAE8-C5F70EDB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2029968"/>
            <a:ext cx="18379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6C4EE6"/>
                </a:solidFill>
                <a:latin typeface="Yu Gothic"/>
                <a:ea typeface="Yu Gothic"/>
                <a:cs typeface="Yu Gothic"/>
              </a:rPr>
              <a:t>Stabilize</a:t>
            </a:r>
            <a:endParaRPr sz="12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5110B82-E404-43DC-9576-5E188B42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2359152"/>
            <a:ext cx="181965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hooks/文書粒度/PRテンプレを調整</a:t>
            </a:r>
            <a:endParaRPr sz="83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5709415-59ED-479D-934F-196046F1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23560" y="1993392"/>
            <a:ext cx="658368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2A9AD3D-043F-4FA7-91C5-C1BD1F62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508760"/>
            <a:ext cx="20574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12700">
            <a:solidFill>
              <a:srgbClr val="2EAD6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F94702D-4B1B-44D5-BD6A-81DF5D7E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618488"/>
            <a:ext cx="18379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Scale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F5B881E-29FC-469F-A1A6-C908EFF5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1947672"/>
            <a:ext cx="181965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他repoへupdate-templateで展開</a:t>
            </a:r>
            <a:endParaRPr sz="83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0099CEC-A2BA-4CEC-AD78-9903CDBE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993392"/>
            <a:ext cx="658368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5DEE8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3A0F5E3-F353-447B-8AA2-DDB7C472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920240"/>
            <a:ext cx="20574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2700">
            <a:solidFill>
              <a:srgbClr val="F2A100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A3449D1-E913-4F7F-9D7C-C60E0376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2029968"/>
            <a:ext cx="183794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2A100"/>
                </a:solidFill>
                <a:latin typeface="Yu Gothic"/>
                <a:ea typeface="Yu Gothic"/>
                <a:cs typeface="Yu Gothic"/>
              </a:rPr>
              <a:t>Govern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782EE7F-E0AB-4F95-847F-B869FC67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2359152"/>
            <a:ext cx="181965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3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定期的にworkflow改善をtemplateへ戻す</a:t>
            </a:r>
            <a:endParaRPr sz="83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63226CA-9F31-4947-A775-A079B11A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7640"/>
            <a:ext cx="1005840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FAFA"/>
          </a:solidFill>
          <a:ln xmlns:a="http://schemas.openxmlformats.org/drawingml/2006/main" w="12700">
            <a:solidFill>
              <a:srgbClr val="00A6A6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819D5A8-9BE7-492D-BFDC-496147CD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4087368"/>
            <a:ext cx="97657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A6A6"/>
                </a:solidFill>
                <a:latin typeface="Yu Gothic"/>
                <a:ea typeface="Yu Gothic"/>
                <a:cs typeface="Yu Gothic"/>
              </a:rPr>
              <a:t>見る指標</a:t>
            </a:r>
            <a:endParaRPr sz="11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5664BE0-16EF-4E31-BBFB-20326EC4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4389120"/>
            <a:ext cx="976579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Issueなし作業の発生数 / requirements差し戻し回数 / docs drift / PRレビュー指摘の再発 / 再開時の調査時間 / hook失敗検出率</a:t>
            </a:r>
            <a:endParaRPr sz="92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C32BDC56-4E31-430B-BD1A-66E38A56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6360"/>
            <a:ext cx="1005840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12700">
            <a:solidFill>
              <a:srgbClr val="2EAD65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8801A37-A2EF-4590-8DB6-D9EE69A0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5276088"/>
            <a:ext cx="97657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成功状態</a:t>
            </a:r>
            <a:endParaRPr sz="11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7CCD7D2-8833-4644-B7BA-BC38C718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5577840"/>
            <a:ext cx="976579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AIエージェントが違っても、開始順序・参照文書・検証・完了条件が同じになる。人間は最終判断と優先順位に集中できる。</a:t>
            </a:r>
            <a:endParaRPr sz="920"/>
          </a:p>
        </p:txBody>
      </p:sp>
    </p:spTree>
    <p:extLst>
      <p:ext uri="{BB962C8B-B14F-4D97-AF65-F5344CB8AC3E}">
        <p14:creationId xmlns:p14="http://schemas.microsoft.com/office/powerpoint/2010/main" val="142805697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B32D79A-F00B-432A-A469-E1640C8D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CB4733A-8043-4F46-A090-32B9CDF2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BF8DEDF-B60B-4DFD-A3C7-8E339028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TROUBLESHOOTING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9ABF5EE-EE74-4924-970E-643CACBA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よくある詰まりどころと確認順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3F19E98-915B-4C23-9751-177A30C4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失敗時は会話を長くする前に、repository状態・phase・profile・helper出力を確認する。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349F44A-1FCE-4709-BCA6-4DEC0311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29</a:t>
            </a:r>
            <a:endParaRPr sz="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3C597E1-CFEF-4194-9609-2BB25A73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0160"/>
            <a:ext cx="50749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1E64D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2722942-DC59-403C-A56E-8D93556D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1389888"/>
            <a:ext cx="47823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E64D8"/>
                </a:solidFill>
                <a:latin typeface="Yu Gothic"/>
                <a:ea typeface="Yu Gothic"/>
                <a:cs typeface="Yu Gothic"/>
              </a:rPr>
              <a:t>`gh auth status` が失敗</a:t>
            </a:r>
            <a:endParaRPr sz="11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4B7FA7D-5D23-47B6-B89E-B63554C0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1691640"/>
            <a:ext cx="4782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認証をやり直す。organization policy / SSO / GitHub App permissionも確認。</a:t>
            </a:r>
            <a:endParaRPr sz="92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58BA01C-E9DD-4497-AAFB-66355A32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280160"/>
            <a:ext cx="50749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12700">
            <a:solidFill>
              <a:srgbClr val="6C4EE6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B96224F-1835-43A7-9F11-FF61E63C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389888"/>
            <a:ext cx="47823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6C4EE6"/>
                </a:solidFill>
                <a:latin typeface="Yu Gothic"/>
                <a:ea typeface="Yu Gothic"/>
                <a:cs typeface="Yu Gothic"/>
              </a:rPr>
              <a:t>Issueなしで実装を始めた</a:t>
            </a:r>
            <a:endParaRPr sz="11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467EC95-34BD-4284-BCFA-F6B2FEDD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691640"/>
            <a:ext cx="4782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変更を止め、requirements workflowへ戻りowning Issueを作成・関連付け。</a:t>
            </a:r>
            <a:endParaRPr sz="9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E78E94D-77C6-4A1E-8D1B-952F9E8F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7480"/>
            <a:ext cx="50749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2700">
            <a:solidFill>
              <a:srgbClr val="D94545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317456A-16BD-4292-992A-A3B7AF84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2807208"/>
            <a:ext cx="47823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D94545"/>
                </a:solidFill>
                <a:latin typeface="Yu Gothic"/>
                <a:ea typeface="Yu Gothic"/>
                <a:cs typeface="Yu Gothic"/>
              </a:rPr>
              <a:t>branch helperが停止</a:t>
            </a:r>
            <a:endParaRPr sz="11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A23FF8E-5C56-43ED-A828-A1B569B4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108960"/>
            <a:ext cx="4782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`git status --porcelain` を確認。dirty worktreeをcommit/stash/discardして再実行。</a:t>
            </a:r>
            <a:endParaRPr sz="92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5BA638D-DC19-4B61-AB46-F4301E7B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697480"/>
            <a:ext cx="50749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12700">
            <a:solidFill>
              <a:srgbClr val="2EAD65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0A0FCA0-6DE2-4129-8EEF-73BCD2FE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807208"/>
            <a:ext cx="47823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verify_finalがprojectと合わない</a:t>
            </a:r>
            <a:endParaRPr sz="11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A5FBF8A-5969-4698-9E89-4DE08CCF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3108960"/>
            <a:ext cx="4782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`.agent/project.json` のhooksをCI/release gateに合わせる。workflow文書へ直書きしない。</a:t>
            </a:r>
            <a:endParaRPr sz="9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354EE84-9758-43DF-8279-EF3C6502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0749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6FAFA"/>
          </a:solidFill>
          <a:ln xmlns:a="http://schemas.openxmlformats.org/drawingml/2006/main" w="12700">
            <a:solidFill>
              <a:srgbClr val="00A6A6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232E159-4C0F-41DF-9D68-345AB111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224528"/>
            <a:ext cx="47823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A6A6"/>
                </a:solidFill>
                <a:latin typeface="Yu Gothic"/>
                <a:ea typeface="Yu Gothic"/>
                <a:cs typeface="Yu Gothic"/>
              </a:rPr>
              <a:t>validate-docsが失敗</a:t>
            </a:r>
            <a:endParaRPr sz="11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0C8D971-83A4-4835-8B2F-EE769F17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4526280"/>
            <a:ext cx="4782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type/schema marker、必須章、壊れたlocal Markdown linkを確認。N/Aなら理由を記す。</a:t>
            </a:r>
            <a:endParaRPr sz="92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E1FF8793-9D39-469D-A6B2-663B5C4F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114800"/>
            <a:ext cx="50749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12700">
            <a:solidFill>
              <a:srgbClr val="F2A100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4FDE2D7-FC93-4302-B6DB-AFCBAF3C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224528"/>
            <a:ext cx="47823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2A100"/>
                </a:solidFill>
                <a:latin typeface="Yu Gothic"/>
                <a:ea typeface="Yu Gothic"/>
                <a:cs typeface="Yu Gothic"/>
              </a:rPr>
              <a:t>update-templateがconflict</a:t>
            </a:r>
            <a:endParaRPr sz="11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E461F7E-0CF5-4293-8822-FF07F01A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526280"/>
            <a:ext cx="4782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exit 2はincomingとlocalを手動merge。exit 3はMIGRATION_REQUIREDの文書を移行。</a:t>
            </a:r>
            <a:endParaRPr sz="92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D45513D-E969-474B-BF2C-A8D07CB2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69280"/>
            <a:ext cx="10058400" cy="658368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2700">
            <a:solidFill>
              <a:srgbClr val="202A3A">
                <a:alpha val="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62C622B-BFAE-494C-8E55-E60C9916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788152"/>
            <a:ext cx="97840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./scripts/agent/agent-context.sh &lt;issue&gt;</a:t>
            </a:r>
            <a:endParaRPr sz="880"/>
          </a:p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git status --short</a:t>
            </a:r>
            <a:endParaRPr sz="880"/>
          </a:p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cat .agent/project.json</a:t>
            </a:r>
            <a:endParaRPr sz="880"/>
          </a:p>
        </p:txBody>
      </p:sp>
    </p:spTree>
    <p:extLst>
      <p:ext uri="{BB962C8B-B14F-4D97-AF65-F5344CB8AC3E}">
        <p14:creationId xmlns:p14="http://schemas.microsoft.com/office/powerpoint/2010/main" val="78035778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8CC8077-3B59-4499-98D0-2D558912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D75441C-CD29-417F-A21E-09A7F219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599C8F6-5361-44EE-8A1C-5086D862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OPERATING PRINCIPLES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069DDB3-FDC3-4B16-8B1E-15D4E4D9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運用で迷ったときの5原則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1B81E23-E2C8-42F3-B077-CF8191BC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細かなルールを忘れても、この5点を守ればworkflowの意図を崩しにくい。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A154FB6-85C4-40D9-970F-BFA9C7A4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30</a:t>
            </a:r>
            <a:endParaRPr sz="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915F523-C2FB-4E6C-9095-1B5C0C76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25880"/>
            <a:ext cx="43891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EC5704D-11F0-404C-AAA5-89ACBBD4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25880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Issue first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6A1DCBD-62E7-45A3-96A6-5B5F6B01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316736"/>
            <a:ext cx="6217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リポジトリ変更はIssue所有を先に固定。</a:t>
            </a:r>
            <a:endParaRPr sz="11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FDFD7B1-5AB5-46AA-8AC0-7138BA5D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0280"/>
            <a:ext cx="43891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EE6"/>
          </a:solidFill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D8FAF07-01E9-4C76-AE52-6AA70952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40280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Spec before code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B1E0703-22B2-49F5-A3F8-0035CB14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231136"/>
            <a:ext cx="6217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外部契約は実装前にspecへ。</a:t>
            </a:r>
            <a:endParaRPr sz="112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7DC8925-561B-42CA-8EAE-6A8F0CDF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54680"/>
            <a:ext cx="43891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  <a:endParaRPr sz="1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2E7FFD8-0D21-43DC-94F6-95542F7A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54680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Design before material decisions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BC661CE-5770-4548-A8AA-99321996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145536"/>
            <a:ext cx="6217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重大な構造判断を実装中に勝手に決めない。</a:t>
            </a:r>
            <a:endParaRPr sz="112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AA8B0CF-010F-4B2D-9C67-7C811E82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69080"/>
            <a:ext cx="43891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D65"/>
          </a:solidFill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  <a:endParaRPr sz="18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E55EA4E-FB60-4022-9113-2EB7C784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69080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Evidence on committed HEAD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6DD955E-FEFA-46A0-81C7-A0330210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059936"/>
            <a:ext cx="6217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レビューはcommit済み差分と検証結果へ固定。</a:t>
            </a:r>
            <a:endParaRPr sz="112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7B89E8E-AB58-47FE-B15E-D9B345F5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983480"/>
            <a:ext cx="43891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00"/>
          </a:solidFill>
        </p:spPr>
        <p:txBody>
          <a:bodyPr xmlns:a="http://schemas.openxmlformats.org/drawingml/2006/main" wrap="square" lIns="635" tIns="635" rIns="635" bIns="635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  <a:endParaRPr sz="18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03ED9B9-1D59-4B61-84FF-3D8D289C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83480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Project policy as data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7226581-D62F-441F-A6FE-B426C9EE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974336"/>
            <a:ext cx="6217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技術固有コマンドはprofile/hookへ分離。</a:t>
            </a:r>
            <a:endParaRPr sz="112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F7A16B6-3954-41F7-ACE6-C90E12D0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97880"/>
            <a:ext cx="10058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このテンプレートの目的は「AIを自由に動かす」ことではなく、「AIが高速に動いても、重要な判断と検証を取りこぼさない」こと。</a:t>
            </a:r>
            <a:endParaRPr sz="1180"/>
          </a:p>
        </p:txBody>
      </p:sp>
    </p:spTree>
    <p:extLst>
      <p:ext uri="{BB962C8B-B14F-4D97-AF65-F5344CB8AC3E}">
        <p14:creationId xmlns:p14="http://schemas.microsoft.com/office/powerpoint/2010/main" val="197231823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FF07005-81CD-48E2-B790-CE623007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E329FB6-D01C-4F97-86C3-DB9A22CE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4D8"/>
          </a:solidFill>
          <a:ln xmlns:a="http://schemas.openxmlformats.org/drawingml/2006/main" w="12700">
            <a:solidFill>
              <a:srgbClr val="1E64D8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C77E165-4459-4073-BD7B-BACAA1E5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4592"/>
            <a:ext cx="3200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SUMMARY</a:t>
            </a:r>
            <a:endParaRPr sz="7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AF5B56E-C7FD-4ACA-B8E1-70C6EF09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まとめ：AIエージェント開発をプロジェクト資産にする</a:t>
            </a:r>
            <a:endParaRPr sz="2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BD24615-03E4-4AA2-A2EC-46406C6F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89611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このテンプレートは「AIに任せる」ための雰囲気ではなく、失敗を検出できる運用の土台。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E04F8E3-A6C6-404E-A386-1F245D1E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73952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78909C"/>
                </a:solidFill>
                <a:latin typeface="Yu Gothic"/>
                <a:ea typeface="Yu Gothic"/>
                <a:cs typeface="Yu Gothic"/>
              </a:rPr>
              <a:t>31</a:t>
            </a:r>
            <a:endParaRPr sz="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BC165F-6ADD-49BD-B5C8-8BB4483A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30759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✓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349ECD9-C4FC-4AFC-ACD6-27DCEF12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325880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導入効果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2C6428A-641D-4B6C-BE22-E3D4A890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1325880"/>
            <a:ext cx="7543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手戻り・文書ズレ・レビュー漏れ・再開コストを削減</a:t>
            </a:r>
            <a:endParaRPr sz="11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6EE75E9-03B9-4DAB-927B-1D8D6709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3055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✓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EE9E188-75E3-4AFB-88E0-684585DD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148840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導入手順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7FD211F-4C98-4612-A6E4-03CC5B04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148840"/>
            <a:ext cx="7543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init-project → setup-github → hooks調整 → 初回Issue/PR</a:t>
            </a:r>
            <a:endParaRPr sz="11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AEABE3B-FCCE-4B01-94C5-4B667E1C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95351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✓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88865AB-18BD-4C9B-8AC6-0E0141B7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971800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更新手順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A00E81-1C0C-44C6-9F4D-59A079E2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971800"/>
            <a:ext cx="7543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managed manifestに基づき、既存プロジェクトへ安全反映</a:t>
            </a:r>
            <a:endParaRPr sz="11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D3FB20E-100F-4EB9-99A4-0B6BA2D8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77647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✓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DBD777F-BC21-4D2A-BEE8-8185CFB7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94760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仕様/設計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940B5AA-6F19-433F-BE5F-72A250D3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794760"/>
            <a:ext cx="7543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spec/design/statusを分離し、テンプレートとvalidateで品質を固定</a:t>
            </a:r>
            <a:endParaRPr sz="11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DDD602F-2EEC-4B03-8691-0B842202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9943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EAD65"/>
                </a:solidFill>
                <a:latin typeface="Yu Gothic"/>
                <a:ea typeface="Yu Gothic"/>
                <a:cs typeface="Yu Gothic"/>
              </a:rPr>
              <a:t>✓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F671EA2-D5B7-4446-825F-7CC9E2F2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617720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02A"/>
                </a:solidFill>
                <a:latin typeface="Yu Gothic"/>
                <a:ea typeface="Yu Gothic"/>
                <a:cs typeface="Yu Gothic"/>
              </a:rPr>
              <a:t>運用原則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69C1551-168D-400D-B72D-5BEE8702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17720"/>
            <a:ext cx="7543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55A64"/>
                </a:solidFill>
                <a:latin typeface="Yu Gothic"/>
                <a:ea typeface="Yu Gothic"/>
                <a:cs typeface="Yu Gothic"/>
              </a:rPr>
              <a:t>Issue-first、HEAD-bound self-review、技術policyはprofile化</a:t>
            </a:r>
            <a:endParaRPr sz="11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E59A55E7-81EF-4B7C-84AB-2DCB1ED3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77840"/>
            <a:ext cx="10058400" cy="82296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2700">
            <a:solidFill>
              <a:srgbClr val="202A3A">
                <a:alpha val="0"/>
              </a:srgbClr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AF424E8-02DF-4524-8B94-91F89698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696712"/>
            <a:ext cx="978408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./scripts/agent/init-project.sh</a:t>
            </a:r>
            <a:endParaRPr sz="830"/>
          </a:p>
          <a:p xmlns:a="http://schemas.openxmlformats.org/drawingml/2006/main">
            <a:pPr marL="0" indent="0">
              <a:buNone/>
            </a:pPr>
            <a:r>
              <a:rPr sz="83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./scripts/agent/setup-github.sh</a:t>
            </a:r>
            <a:endParaRPr sz="830"/>
          </a:p>
          <a:p xmlns:a="http://schemas.openxmlformats.org/drawingml/2006/main">
            <a:pPr marL="0" indent="0">
              <a:buNone/>
            </a:pPr>
            <a:r>
              <a:rPr sz="83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./scripts/agent/new-doc.sh specification &lt;area&gt;/&lt;name&gt; --issue &lt;n&gt;</a:t>
            </a:r>
            <a:endParaRPr sz="830"/>
          </a:p>
          <a:p xmlns:a="http://schemas.openxmlformats.org/drawingml/2006/main">
            <a:pPr marL="0" indent="0">
              <a:buNone/>
            </a:pPr>
            <a:r>
              <a:rPr sz="830">
                <a:solidFill>
                  <a:srgbClr val="EAF2FF"/>
                </a:solidFill>
                <a:latin typeface="Consolas"/>
                <a:ea typeface="Consolas"/>
                <a:cs typeface="Consolas"/>
              </a:rPr>
              <a:t>./scripts/agent/update-template.sh --check</a:t>
            </a:r>
            <a:endParaRPr sz="830"/>
          </a:p>
        </p:txBody>
      </p:sp>
    </p:spTree>
    <p:extLst>
      <p:ext uri="{BB962C8B-B14F-4D97-AF65-F5344CB8AC3E}">
        <p14:creationId xmlns:p14="http://schemas.microsoft.com/office/powerpoint/2010/main" val="54170751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2026-09-28T16:45:14.4480000Z</dcterms:created>
  <dcterms:modified xsi:type="dcterms:W3CDTF">2026-09-28T16:45:14.4480000Z</dcterms:modified>
</coreProperties>
</file>