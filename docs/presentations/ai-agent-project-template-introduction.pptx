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4251960"/>
            <a:ext cx="713232" cy="420624"/>
          </a:xfrm>
          <a:prstGeom prst="roundRect">
            <a:avLst>
              <a:gd name="adj" fmla="val 17391"/>
            </a:avLst>
          </a:prstGeom>
          <a:solidFill>
            <a:srgbClr val="102A4A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76288" y="4361688"/>
            <a:ext cx="4937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885432" y="4690872"/>
            <a:ext cx="475488" cy="-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endParaRPr lang="en-US" sz="830" dirty="0"/>
          </a:p>
        </p:txBody>
      </p:sp>
      <p:sp>
        <p:nvSpPr>
          <p:cNvPr id="5" name="Shape 3"/>
          <p:cNvSpPr/>
          <p:nvPr/>
        </p:nvSpPr>
        <p:spPr>
          <a:xfrm>
            <a:off x="7452360" y="4462272"/>
            <a:ext cx="182880" cy="-822960"/>
          </a:xfrm>
          <a:prstGeom prst="line">
            <a:avLst/>
          </a:prstGeom>
          <a:noFill/>
          <a:ln w="13970">
            <a:solidFill>
              <a:srgbClr val="9DB4FF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635240" y="3840480"/>
            <a:ext cx="713232" cy="420624"/>
          </a:xfrm>
          <a:prstGeom prst="roundRect">
            <a:avLst>
              <a:gd name="adj" fmla="val 17391"/>
            </a:avLst>
          </a:prstGeom>
          <a:solidFill>
            <a:srgbClr val="102A4A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44968" y="3950208"/>
            <a:ext cx="4937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54112" y="4279392"/>
            <a:ext cx="475488" cy="-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8321040" y="4050792"/>
            <a:ext cx="182880" cy="0"/>
          </a:xfrm>
          <a:prstGeom prst="line">
            <a:avLst/>
          </a:prstGeom>
          <a:noFill/>
          <a:ln w="13970">
            <a:solidFill>
              <a:srgbClr val="9DB4F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503920" y="4251960"/>
            <a:ext cx="713232" cy="420624"/>
          </a:xfrm>
          <a:prstGeom prst="roundRect">
            <a:avLst>
              <a:gd name="adj" fmla="val 17391"/>
            </a:avLst>
          </a:prstGeom>
          <a:solidFill>
            <a:srgbClr val="102A4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13648" y="4361688"/>
            <a:ext cx="4937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22792" y="4690872"/>
            <a:ext cx="475488" cy="-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9189720" y="4462272"/>
            <a:ext cx="182880" cy="-822960"/>
          </a:xfrm>
          <a:prstGeom prst="line">
            <a:avLst/>
          </a:prstGeom>
          <a:noFill/>
          <a:ln w="13970">
            <a:solidFill>
              <a:srgbClr val="9DB4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372600" y="3840480"/>
            <a:ext cx="713232" cy="420624"/>
          </a:xfrm>
          <a:prstGeom prst="roundRect">
            <a:avLst>
              <a:gd name="adj" fmla="val 17391"/>
            </a:avLst>
          </a:prstGeom>
          <a:solidFill>
            <a:srgbClr val="102A4A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82328" y="3950208"/>
            <a:ext cx="4937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491472" y="4279392"/>
            <a:ext cx="475488" cy="-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10058400" y="4050792"/>
            <a:ext cx="182880" cy="0"/>
          </a:xfrm>
          <a:prstGeom prst="line">
            <a:avLst/>
          </a:prstGeom>
          <a:noFill/>
          <a:ln w="13970">
            <a:solidFill>
              <a:srgbClr val="9DB4FF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241280" y="4251960"/>
            <a:ext cx="713232" cy="420624"/>
          </a:xfrm>
          <a:prstGeom prst="roundRect">
            <a:avLst>
              <a:gd name="adj" fmla="val 17391"/>
            </a:avLst>
          </a:prstGeom>
          <a:solidFill>
            <a:srgbClr val="102A4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51008" y="4361688"/>
            <a:ext cx="49377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Review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360152" y="4690872"/>
            <a:ext cx="475488" cy="-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85800" y="914400"/>
            <a:ext cx="548640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Agent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Project Template</a:t>
            </a:r>
            <a:endParaRPr lang="en-US" sz="3100" dirty="0"/>
          </a:p>
        </p:txBody>
      </p:sp>
      <p:sp>
        <p:nvSpPr>
          <p:cNvPr id="22" name="Text 20"/>
          <p:cNvSpPr/>
          <p:nvPr/>
        </p:nvSpPr>
        <p:spPr>
          <a:xfrm>
            <a:off x="713232" y="2331720"/>
            <a:ext cx="539496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8E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Issueを中心に、AIエージェントで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D8E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要求・仕様・設計・実装・レビューを安全に回す標準テンプレート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3232" y="3310128"/>
            <a:ext cx="1051560" cy="329184"/>
          </a:xfrm>
          <a:prstGeom prst="roundRect">
            <a:avLst>
              <a:gd name="adj" fmla="val 13889"/>
            </a:avLst>
          </a:prstGeom>
          <a:solidFill>
            <a:srgbClr val="123E5B"/>
          </a:solidFill>
          <a:ln w="12700">
            <a:solidFill>
              <a:srgbClr val="123E5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383280"/>
            <a:ext cx="9052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導入効果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13232" y="3767328"/>
            <a:ext cx="50292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AF2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暗黙知をリポジトリに固定し、エージェント交代・中断・レビュー差し戻しに強い開発運用へ移行する。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3232" y="6163056"/>
            <a:ext cx="7863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DB4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この資料だけで、目的・構成・導入・更新・運用ルールが分かる構成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AUDIENCE / SCOPE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この資料だけで分かること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導入担当・開発者・レビュー担当が、READMEを開かなくても運用全体を判断できることを目的にする。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52704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対象読者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" y="1828800"/>
            <a:ext cx="49194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AIコーディングエージェントをプロジェクトへ導入する人、既存開発プロセスをIssue駆動へ整理したい人、テンプレートを複数repoへ展開・保守する人。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52704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この資料で扱う範囲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364224" y="1828800"/>
            <a:ext cx="4919472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 / 導入効果 / 必要環境 / repository構成 / phase workflow / spec・design品質 / scripts / self-review / 導入 / 更新 / 既存repo移行 / troubleshooting。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822960" y="2880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読み終えた時にできること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3479292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401568"/>
            <a:ext cx="998524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自分のプロジェクトが導入可能か、必要ツール・権限・OS条件から判断できる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914400" y="3872484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3794760"/>
            <a:ext cx="998524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AIエージェントへ依頼した時、IssueからPRまで何が起きるか説明できる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914400" y="4265676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187952"/>
            <a:ext cx="998524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仕様書と設計書をどこまで書けば「実装前の合意」として十分か判断できる</a:t>
            </a:r>
            <a:endParaRPr lang="en-US" sz="1170" dirty="0"/>
          </a:p>
        </p:txBody>
      </p:sp>
      <p:sp>
        <p:nvSpPr>
          <p:cNvPr id="21" name="Shape 19"/>
          <p:cNvSpPr/>
          <p:nvPr/>
        </p:nvSpPr>
        <p:spPr>
          <a:xfrm>
            <a:off x="914400" y="4658868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4581144"/>
            <a:ext cx="998524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テンプレート改善を既存プロジェクトへどう安全に反映するか判断できる</a:t>
            </a:r>
            <a:endParaRPr lang="en-US" sz="1170" dirty="0"/>
          </a:p>
        </p:txBody>
      </p:sp>
      <p:sp>
        <p:nvSpPr>
          <p:cNvPr id="23" name="Shape 21"/>
          <p:cNvSpPr/>
          <p:nvPr/>
        </p:nvSpPr>
        <p:spPr>
          <a:xfrm>
            <a:off x="914400" y="5052060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4974336"/>
            <a:ext cx="998524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失敗時にどの状態・ファイル・コマンドを確認すればよいか分かる</a:t>
            </a:r>
            <a:endParaRPr lang="en-US" sz="1170" dirty="0"/>
          </a:p>
        </p:txBody>
      </p:sp>
      <p:sp>
        <p:nvSpPr>
          <p:cNvPr id="25" name="Text 23"/>
          <p:cNvSpPr/>
          <p:nvPr/>
        </p:nvSpPr>
        <p:spPr>
          <a:xfrm>
            <a:off x="914400" y="598932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前提: 本テンプレートはGitHub Issue / Pull Requestをworkflowの状態管理に使う。AI製品自体は固定しない。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PREREQUISITES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事前準備・動作環境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共通workflowはOS非依存。GitHub操作と技術別build/testに必要なtoolchainだけを事前に揃える。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325880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8F0FF"/>
          </a:solidFill>
          <a:ln w="1143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43560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/ Shell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83280" y="1380744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macOS・Linux: Bash系 / Windows: PowerShell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1984248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F0EDFF"/>
          </a:solidFill>
          <a:ln w="1143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093976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/ GitHub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0" y="2039112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repository + GitHub remote。Issue / PR / labels を利用。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731520" y="2642616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6FAFA"/>
          </a:solidFill>
          <a:ln w="1143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75234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CLI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0" y="2697480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`gh` を認証済みにする。Issue/PR/label/milestone操作に使用。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1520" y="3300984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E9F7EE"/>
          </a:solidFill>
          <a:ln w="1143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41071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83280" y="3355848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3.10+ 推奨。共通ロジック `agent_tool.py` を実行。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731520" y="3959352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FFF4DA"/>
          </a:solidFill>
          <a:ln w="1143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06908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Agent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83280" y="4014216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Codex / Claude Code / Gemini系など。共通正本は `AGENTS.md`。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731520" y="4617720"/>
            <a:ext cx="2331720" cy="420624"/>
          </a:xfrm>
          <a:prstGeom prst="roundRect">
            <a:avLst>
              <a:gd name="adj" fmla="val 8696"/>
            </a:avLst>
          </a:prstGeom>
          <a:solidFill>
            <a:srgbClr val="FDECEC"/>
          </a:solidFill>
          <a:ln w="11430">
            <a:solidFill>
              <a:srgbClr val="D94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472744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Network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83280" y="4672584"/>
            <a:ext cx="7772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GitHub、push/pull、依存取得が必要な処理で利用。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868680" y="5440680"/>
            <a:ext cx="10149840" cy="777240"/>
          </a:xfrm>
          <a:prstGeom prst="roundRect">
            <a:avLst>
              <a:gd name="adj" fmla="val 3529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59552"/>
            <a:ext cx="98755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macOS / Linux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--version &amp;&amp; gh --version &amp;&amp; python3 --version &amp;&amp; gh auth status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PowerShell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--version; gh --version; python --version; gh auth status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PRE-FLIGHT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導入前チェックリスト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ここを通れば、init-projectとGitHub setupを安全に開始できる。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52704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GitHub権限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" y="1828800"/>
            <a:ext cx="49194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Issue作成/編集、label参照/更新、PR作成/参照、branch push。setup-github利用時はlabel作成権限、milestone利用時はmilestone操作権限も必要。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52704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Repository状態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364224" y="1828800"/>
            <a:ext cx="49194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ローカルGit repository、originが対象GitHub repo、ghでアクセス可能。source branch開始時はclean worktreeが必要。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12724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Stack toolchain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824" y="3429000"/>
            <a:ext cx="49194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RustならCargo、NodeならNode/npm、Pythonならproject dependencies、.NETなら.NET SDK。Mixed stackは必要なtoolchainをすべて用意。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0175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4224" y="312724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Security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64224" y="3429000"/>
            <a:ext cx="49194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token/API keyをrepoへ保存しない。`.agent-state/` はgitignore。logs/checkpointへ秘密情報・個人情報・不要な絶対pathを残さない。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914400" y="4846320"/>
            <a:ext cx="10058400" cy="777240"/>
          </a:xfrm>
          <a:prstGeom prst="roundRect">
            <a:avLst>
              <a:gd name="adj" fmla="val 3529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965192"/>
            <a:ext cx="97840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auth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./scripts/agent/init-project.sh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./scripts/agent/setup-github.sh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4400" y="598932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GitLab等へ適用する場合: phase model / docs model / hook modelは再利用可能だが、`gh`依存のIssue/PR操作はadapterが必要。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WHY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なぜテンプレート化するのか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AIエージェント開発は速い一方で、判断根拠・フェーズ・検証が散らばると手戻りが増える。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1572768"/>
            <a:ext cx="2907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よく起きる失敗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6384" y="1874520"/>
            <a:ext cx="2907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依頼直後に実装へ入り、要求・非ゴール・互換性・レビュー観点が後から発覚する。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480560" y="14630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572768"/>
            <a:ext cx="2907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コンテキスト消費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26864" y="1874520"/>
            <a:ext cx="2907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仕様・設計・現状・ログを毎回読み直し、必要な文書と不要な文書の区別がつかない。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321040" y="14630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572768"/>
            <a:ext cx="2907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レビューの不安定化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67344" y="1874520"/>
            <a:ext cx="2907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セルフレビューが会話上の記憶に依存し、commit後のHEADや差分全体に固定されない。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2240280" y="2834640"/>
            <a:ext cx="0" cy="100584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80760" y="2834640"/>
            <a:ext cx="0" cy="100584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921240" y="2834640"/>
            <a:ext cx="0" cy="100584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34440" y="3977640"/>
            <a:ext cx="9784080" cy="1143000"/>
          </a:xfrm>
          <a:prstGeom prst="roundRect">
            <a:avLst>
              <a:gd name="adj" fmla="val 6400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0744" y="4087368"/>
            <a:ext cx="9491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テンプレートで固定すること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380744" y="4389120"/>
            <a:ext cx="9491472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Issue所有・phase遷移・仕様/設計の責務・技術別hook・セルフレビュー検証を、リポジトリ内の標準手順にする。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1554480" y="5518404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19072" y="5440680"/>
            <a:ext cx="89794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エージェントの種類が変わっても、開始地点と判断順序が同じになる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554480" y="5847588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19072" y="5769864"/>
            <a:ext cx="89794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仕様書・設計書が「実装後の説明」ではなく「実装前の合意」になる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554480" y="6176772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19072" y="6099048"/>
            <a:ext cx="89794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PR作成前の完了条件が明確になり、レビューで見落としにくくなる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EFFECT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導入効果：AIの速度を「再現可能な開発プロセス」に変える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効果はコード生成速度そのものより、手戻り・文書ズレ・レビュー漏れ・引き継ぎコストの削減に出る。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2135124"/>
            <a:ext cx="82296" cy="82296"/>
          </a:xfrm>
          <a:prstGeom prst="ellipse">
            <a:avLst/>
          </a:prstGeom>
          <a:solidFill>
            <a:srgbClr val="D94545"/>
          </a:solidFill>
          <a:ln w="12700">
            <a:solidFill>
              <a:srgbClr val="D9454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057400"/>
            <a:ext cx="41330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依頼文から直接実装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528316"/>
            <a:ext cx="82296" cy="82296"/>
          </a:xfrm>
          <a:prstGeom prst="ellipse">
            <a:avLst/>
          </a:prstGeom>
          <a:solidFill>
            <a:srgbClr val="D94545"/>
          </a:solidFill>
          <a:ln w="12700">
            <a:solidFill>
              <a:srgbClr val="D9454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450592"/>
            <a:ext cx="41330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会話ログに意思決定が残る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822960" y="2921508"/>
            <a:ext cx="82296" cy="82296"/>
          </a:xfrm>
          <a:prstGeom prst="ellipse">
            <a:avLst/>
          </a:prstGeom>
          <a:solidFill>
            <a:srgbClr val="D94545"/>
          </a:solidFill>
          <a:ln w="12700">
            <a:solidFill>
              <a:srgbClr val="D9454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843784"/>
            <a:ext cx="41330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検証コマンドが人・環境で揺れる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822960" y="3314700"/>
            <a:ext cx="82296" cy="82296"/>
          </a:xfrm>
          <a:prstGeom prst="ellipse">
            <a:avLst/>
          </a:prstGeom>
          <a:solidFill>
            <a:srgbClr val="D94545"/>
          </a:solidFill>
          <a:ln w="12700">
            <a:solidFill>
              <a:srgbClr val="D9454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3236976"/>
            <a:ext cx="41330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PR本文が調査ログ化する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707892"/>
            <a:ext cx="82296" cy="82296"/>
          </a:xfrm>
          <a:prstGeom prst="ellipse">
            <a:avLst/>
          </a:prstGeom>
          <a:solidFill>
            <a:srgbClr val="D94545"/>
          </a:solidFill>
          <a:ln w="12700">
            <a:solidFill>
              <a:srgbClr val="D9454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630168"/>
            <a:ext cx="41330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中断後に再調査が増える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6537960" y="2135124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2552" y="2057400"/>
            <a:ext cx="43159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Issueでscope/acceptanceを固定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537960" y="2528316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02552" y="2450592"/>
            <a:ext cx="43159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spec/design/statusに責務分離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6537960" y="2921508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2552" y="2843784"/>
            <a:ext cx="43159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project profile hookで検証を固定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6537960" y="3314700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3236976"/>
            <a:ext cx="43159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PRはdelta/evidence中心</a:t>
            </a:r>
            <a:endParaRPr lang="en-US" sz="1220" dirty="0"/>
          </a:p>
        </p:txBody>
      </p:sp>
      <p:sp>
        <p:nvSpPr>
          <p:cNvPr id="28" name="Shape 26"/>
          <p:cNvSpPr/>
          <p:nvPr/>
        </p:nvSpPr>
        <p:spPr>
          <a:xfrm>
            <a:off x="6537960" y="3707892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3630168"/>
            <a:ext cx="43159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checkpoint/contextで再開可能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5074920" y="2971800"/>
            <a:ext cx="1005840" cy="0"/>
          </a:xfrm>
          <a:prstGeom prst="line">
            <a:avLst/>
          </a:prstGeom>
          <a:noFill/>
          <a:ln w="27940">
            <a:solidFill>
              <a:srgbClr val="1E64D8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914400" y="51663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要求の後出し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337560" y="5202936"/>
            <a:ext cx="1920240" cy="146304"/>
          </a:xfrm>
          <a:prstGeom prst="rect">
            <a:avLst/>
          </a:prstGeom>
          <a:solidFill>
            <a:srgbClr val="E4EAF2"/>
          </a:solidFill>
          <a:ln w="12700">
            <a:solidFill>
              <a:srgbClr val="E4EA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37560" y="5202936"/>
            <a:ext cx="1632204" cy="146304"/>
          </a:xfrm>
          <a:prstGeom prst="rect">
            <a:avLst/>
          </a:prstGeom>
          <a:solidFill>
            <a:srgbClr val="D94545"/>
          </a:solidFill>
          <a:ln w="12700">
            <a:solidFill>
              <a:srgbClr val="D94545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532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文書と実装のズレ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337560" y="5568696"/>
            <a:ext cx="1920240" cy="146304"/>
          </a:xfrm>
          <a:prstGeom prst="rect">
            <a:avLst/>
          </a:prstGeom>
          <a:solidFill>
            <a:srgbClr val="E4EAF2"/>
          </a:solidFill>
          <a:ln w="12700">
            <a:solidFill>
              <a:srgbClr val="E4EAF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37560" y="5568696"/>
            <a:ext cx="1536192" cy="146304"/>
          </a:xfrm>
          <a:prstGeom prst="rect">
            <a:avLst/>
          </a:prstGeom>
          <a:solidFill>
            <a:srgbClr val="F2A100"/>
          </a:solidFill>
          <a:ln w="12700">
            <a:solidFill>
              <a:srgbClr val="F2A100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8978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再開時の調査量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337560" y="5934456"/>
            <a:ext cx="1920240" cy="146304"/>
          </a:xfrm>
          <a:prstGeom prst="rect">
            <a:avLst/>
          </a:prstGeom>
          <a:solidFill>
            <a:srgbClr val="E4EAF2"/>
          </a:solidFill>
          <a:ln w="12700">
            <a:solidFill>
              <a:srgbClr val="E4EAF2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37560" y="5934456"/>
            <a:ext cx="1440180" cy="146304"/>
          </a:xfrm>
          <a:prstGeom prst="rect">
            <a:avLst/>
          </a:prstGeom>
          <a:solidFill>
            <a:srgbClr val="6C4EE6"/>
          </a:solidFill>
          <a:ln w="12700">
            <a:solidFill>
              <a:srgbClr val="6C4EE6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51663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手順の再現性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840" y="5202936"/>
            <a:ext cx="1920240" cy="146304"/>
          </a:xfrm>
          <a:prstGeom prst="rect">
            <a:avLst/>
          </a:prstGeom>
          <a:solidFill>
            <a:srgbClr val="E4EAF2"/>
          </a:solidFill>
          <a:ln w="12700">
            <a:solidFill>
              <a:srgbClr val="E4EAF2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06840" y="5202936"/>
            <a:ext cx="1728216" cy="146304"/>
          </a:xfrm>
          <a:prstGeom prst="rect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5532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レビュー証跡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006840" y="5568696"/>
            <a:ext cx="1920240" cy="146304"/>
          </a:xfrm>
          <a:prstGeom prst="rect">
            <a:avLst/>
          </a:prstGeom>
          <a:solidFill>
            <a:srgbClr val="E4EAF2"/>
          </a:solidFill>
          <a:ln w="12700">
            <a:solidFill>
              <a:srgbClr val="E4EAF2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006840" y="5568696"/>
            <a:ext cx="1632204" cy="146304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0" y="58978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技術別最適化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006840" y="5934456"/>
            <a:ext cx="1920240" cy="146304"/>
          </a:xfrm>
          <a:prstGeom prst="rect">
            <a:avLst/>
          </a:prstGeom>
          <a:solidFill>
            <a:srgbClr val="E4EAF2"/>
          </a:solidFill>
          <a:ln w="12700">
            <a:solidFill>
              <a:srgbClr val="E4EAF2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06840" y="5934456"/>
            <a:ext cx="1536192" cy="146304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MODEL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全体像：Issueを作業単位にして、仕様・設計・検証をつなぐ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テンプレートは「AIに何を読むか」だけでなく、「いつ何を決めるか」をリポジトリに固定する。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8745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98424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Issue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313432"/>
            <a:ext cx="159105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要求・scope・acceptance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labels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834640" y="12344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1344168"/>
            <a:ext cx="16550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Specifications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953512" y="1673352"/>
            <a:ext cx="163677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外部から見える契約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MUST / SHOULD / boundary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983480" y="187452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1984248"/>
            <a:ext cx="16550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102352" y="2313432"/>
            <a:ext cx="163677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内部構造・責務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data/control flow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7132320" y="12344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344168"/>
            <a:ext cx="16550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 + Tests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251192" y="1673352"/>
            <a:ext cx="163677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実装・実行可能な証拠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quick/final hooks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9281160" y="187452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90888" y="1984248"/>
            <a:ext cx="16550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400032" y="2313432"/>
            <a:ext cx="163677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delta/evidence/risk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Closes #issue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2514600" y="2331720"/>
            <a:ext cx="320040" cy="-59436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709160" y="1737360"/>
            <a:ext cx="274320" cy="59436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858000" y="2331720"/>
            <a:ext cx="274320" cy="-59436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06840" y="1737360"/>
            <a:ext cx="274320" cy="59436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14400" y="3886200"/>
            <a:ext cx="9875520" cy="336042"/>
          </a:xfrm>
          <a:prstGeom prst="rect">
            <a:avLst/>
          </a:prstGeom>
          <a:solidFill>
            <a:srgbClr val="E8F0FF"/>
          </a:solidFill>
          <a:ln w="15240">
            <a:solidFill>
              <a:srgbClr val="1E64D8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specs   desired behavior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1115568" y="4331970"/>
            <a:ext cx="9473184" cy="336042"/>
          </a:xfrm>
          <a:prstGeom prst="rect">
            <a:avLst/>
          </a:prstGeom>
          <a:solidFill>
            <a:srgbClr val="F0EDFF"/>
          </a:solidFill>
          <a:ln w="15240">
            <a:solidFill>
              <a:srgbClr val="6C4EE6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   durable architecture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1316736" y="4777740"/>
            <a:ext cx="9070848" cy="336042"/>
          </a:xfrm>
          <a:prstGeom prst="rect">
            <a:avLst/>
          </a:prstGeom>
          <a:solidFill>
            <a:srgbClr val="E9F7EE"/>
          </a:solidFill>
          <a:ln w="15240">
            <a:solidFill>
              <a:srgbClr val="2EAD6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code/tests   implementation evidence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1517904" y="5223510"/>
            <a:ext cx="8668512" cy="336042"/>
          </a:xfrm>
          <a:prstGeom prst="rect">
            <a:avLst/>
          </a:prstGeom>
          <a:solidFill>
            <a:srgbClr val="FFF4DA"/>
          </a:solidFill>
          <a:ln w="15240">
            <a:solidFill>
              <a:srgbClr val="F2A100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status   current state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914400" y="6080760"/>
            <a:ext cx="9875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重要: statusは現在地の案内であり、要求や設計の正本ではない。仕様変更はspecsから、構造変更はdesignから始める。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PACKAGE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テンプレートに含まれるもの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導入直後から「依頼→Issue→仕様/設計→実装→レビュー→更新」まで回せる最小セット。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2514600" cy="475488"/>
          </a:xfrm>
          <a:prstGeom prst="roundRect">
            <a:avLst>
              <a:gd name="adj" fmla="val 7692"/>
            </a:avLst>
          </a:prstGeom>
          <a:solidFill>
            <a:srgbClr val="E8F0FF"/>
          </a:solidFill>
          <a:ln w="1143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54480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03320" y="1490472"/>
            <a:ext cx="72237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全AIエージェント共通の正本。作業開始順序、文書責務、完了条件を定義。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77240" y="2167128"/>
            <a:ext cx="2514600" cy="475488"/>
          </a:xfrm>
          <a:prstGeom prst="roundRect">
            <a:avLst>
              <a:gd name="adj" fmla="val 7692"/>
            </a:avLst>
          </a:prstGeom>
          <a:solidFill>
            <a:srgbClr val="F0EDFF"/>
          </a:solidFill>
          <a:ln w="1143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304288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docs/agent-workflow/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703320" y="2240280"/>
            <a:ext cx="72237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requirements / design / implementation / review / checkpoint / evidence のフェーズ文書。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777240" y="2916936"/>
            <a:ext cx="2514600" cy="475488"/>
          </a:xfrm>
          <a:prstGeom prst="roundRect">
            <a:avLst>
              <a:gd name="adj" fmla="val 7692"/>
            </a:avLst>
          </a:prstGeom>
          <a:solidFill>
            <a:srgbClr val="E6FAFA"/>
          </a:solidFill>
          <a:ln w="1143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054096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docs/standards + templates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703320" y="2990088"/>
            <a:ext cx="72237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仕様書・設計書・statusの品質基準と雛形。validate-docsで検査。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777240" y="3666744"/>
            <a:ext cx="2514600" cy="475488"/>
          </a:xfrm>
          <a:prstGeom prst="roundRect">
            <a:avLst>
              <a:gd name="adj" fmla="val 7692"/>
            </a:avLst>
          </a:prstGeom>
          <a:solidFill>
            <a:srgbClr val="E9F7EE"/>
          </a:solidFill>
          <a:ln w="1143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80390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scripts/agent/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703320" y="3739896"/>
            <a:ext cx="72237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init, branch, hooks, milestone, contract, checkpoint, self-review, template update。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777240" y="4416552"/>
            <a:ext cx="2514600" cy="475488"/>
          </a:xfrm>
          <a:prstGeom prst="roundRect">
            <a:avLst>
              <a:gd name="adj" fmla="val 7692"/>
            </a:avLst>
          </a:prstGeom>
          <a:solidFill>
            <a:srgbClr val="FFF4DA"/>
          </a:solidFill>
          <a:ln w="1143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53712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.agent/project.json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703320" y="4489704"/>
            <a:ext cx="72237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Rust/Node/Python/.NET等の技術別hookとbranch policyを設定。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777240" y="5166360"/>
            <a:ext cx="2514600" cy="475488"/>
          </a:xfrm>
          <a:prstGeom prst="roundRect">
            <a:avLst>
              <a:gd name="adj" fmla="val 7692"/>
            </a:avLst>
          </a:prstGeom>
          <a:solidFill>
            <a:srgbClr val="FDECEC"/>
          </a:solidFill>
          <a:ln w="11430">
            <a:solidFill>
              <a:srgbClr val="D94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303520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.github/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703320" y="5239512"/>
            <a:ext cx="72237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 Form、phase label setup、PR template。GitHub運用の入口。</a:t>
            </a:r>
            <a:endParaRPr lang="en-US" sz="1120" dirty="0"/>
          </a:p>
        </p:txBody>
      </p:sp>
      <p:sp>
        <p:nvSpPr>
          <p:cNvPr id="26" name="Text 24"/>
          <p:cNvSpPr/>
          <p:nvPr/>
        </p:nvSpPr>
        <p:spPr>
          <a:xfrm>
            <a:off x="914400" y="6172200"/>
            <a:ext cx="9966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この資料自体も `docs/presentations/` に格納し、テンプレート利用者向け説明資料として同梱する。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REPOSITORY STRUCTURE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リポジトリ構造：読む場所を迷わせない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AIエージェントに「全部読め」ではなく、目的別の入口を与える。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5257800" cy="4617720"/>
          </a:xfrm>
          <a:prstGeom prst="roundRect">
            <a:avLst>
              <a:gd name="adj" fmla="val 594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536192"/>
            <a:ext cx="4983480" cy="439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                 # repository-wide agent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/ GEMINI.md     # provider-specific router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.agent/project.json       # committed project profile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.agent-state/             # local issue state; ignored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docs/agent-workflow/      # phase workflow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docs/specs/               # observable contracts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docs/design/              # durable architecture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docs/status/              # concise current state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docs/standards/           # doc quality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docs/templates/           # spec/design/status templates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scripts/agent/            # shared helper scripts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4754880" cy="868680"/>
          </a:xfrm>
          <a:prstGeom prst="roundRect">
            <a:avLst>
              <a:gd name="adj" fmla="val 8421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7104" y="152704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設計意図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47104" y="1828800"/>
            <a:ext cx="44622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AGENTS.mdを正本にし、Claude/Gemini/Codex等の個別ファイルには共通ルールを複製しない。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0" y="2542032"/>
            <a:ext cx="4754880" cy="868680"/>
          </a:xfrm>
          <a:prstGeom prst="roundRect">
            <a:avLst>
              <a:gd name="adj" fmla="val 8421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47104" y="2651760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コンテキスト削減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47104" y="2953512"/>
            <a:ext cx="44622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docs/README.md → category README → 関連文書だけを読む。全spec/design/statusを横断しない。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400800" y="3666744"/>
            <a:ext cx="4754880" cy="868680"/>
          </a:xfrm>
          <a:prstGeom prst="roundRect">
            <a:avLst>
              <a:gd name="adj" fmla="val 8421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47104" y="3776472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安全な一時状態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47104" y="4078224"/>
            <a:ext cx="44622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.agent-state/issues/&lt;issue&gt;/ にcontract/checkpoint/logs/self-reviewを保存し、Git管理しない。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00800" y="4791456"/>
            <a:ext cx="475488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7104" y="4901184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永続文書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47104" y="5202936"/>
            <a:ext cx="44622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specs/design/statusは履歴ログではなく、現在の正本・構造・状態を保つ。</a:t>
            </a:r>
            <a:endParaRPr lang="en-US" sz="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WORKFLOW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作業フェーズ：各段階の成果物と通過ゲート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labelが、エージェントに読むべきworkflow文書と次の行動を指示する。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40080" y="15544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66420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phase:requirements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58952" y="1993392"/>
            <a:ext cx="15910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何を満たすか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487168" y="1938528"/>
            <a:ext cx="393192" cy="0"/>
          </a:xfrm>
          <a:prstGeom prst="line">
            <a:avLst/>
          </a:prstGeom>
          <a:noFill/>
          <a:ln w="1778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94360" y="2761488"/>
            <a:ext cx="192024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Issue: objective / scope / non-goals / acceptance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907792" y="15544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166420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phase:design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026664" y="1993392"/>
            <a:ext cx="15910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どう実現するか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754880" y="1938528"/>
            <a:ext cx="393192" cy="0"/>
          </a:xfrm>
          <a:prstGeom prst="line">
            <a:avLst/>
          </a:prstGeom>
          <a:noFill/>
          <a:ln w="1778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862072" y="2761488"/>
            <a:ext cx="192024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spec/design更新、Reviewer Checklist承認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175504" y="15544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166420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phase:ready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94376" y="1993392"/>
            <a:ext cx="15910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実装開始可能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7022592" y="1938528"/>
            <a:ext cx="393192" cy="0"/>
          </a:xfrm>
          <a:prstGeom prst="line">
            <a:avLst/>
          </a:prstGeom>
          <a:noFill/>
          <a:ln w="1778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129784" y="2761488"/>
            <a:ext cx="192024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要求・設計・checklistが承認済み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443216" y="15544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52944" y="166420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phase:implementation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562088" y="1993392"/>
            <a:ext cx="15910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変更を作る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9290304" y="1938528"/>
            <a:ext cx="393192" cy="0"/>
          </a:xfrm>
          <a:prstGeom prst="line">
            <a:avLst/>
          </a:prstGeom>
          <a:noFill/>
          <a:ln w="1778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397496" y="2761488"/>
            <a:ext cx="192024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branch, hooks, tests, docs sync, self-review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10928" y="15544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20656" y="166420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phase:review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829800" y="1993392"/>
            <a:ext cx="1591056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差分を検査</a:t>
            </a:r>
            <a:endParaRPr lang="en-US" sz="830" dirty="0"/>
          </a:p>
        </p:txBody>
      </p:sp>
      <p:sp>
        <p:nvSpPr>
          <p:cNvPr id="31" name="Text 29"/>
          <p:cNvSpPr/>
          <p:nvPr/>
        </p:nvSpPr>
        <p:spPr>
          <a:xfrm>
            <a:off x="9665208" y="2761488"/>
            <a:ext cx="192024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delta/evidence/risk、review remediation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1527048" y="3886200"/>
            <a:ext cx="9070848" cy="0"/>
          </a:xfrm>
          <a:prstGeom prst="line">
            <a:avLst/>
          </a:prstGeom>
          <a:noFill/>
          <a:ln w="15240">
            <a:solidFill>
              <a:srgbClr val="D5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3434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1664208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Issue所有を先に決める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343400" y="43434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5093208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仕様/設計を先に固定する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772400" y="434340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8522208" y="4416552"/>
            <a:ext cx="20116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コミット済みHEADでレビューする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5840" y="5806440"/>
            <a:ext cx="10058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「実装したので完了」ではなく、PR・review phase・self-review validationまで到達して初めて実装フェーズ完了。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DETAIL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1つのIssueが完了するまで：誰が何を決めるか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AIは作業を進めるが、scope・公開契約・material architecture・最終承認は明示的なgateを通す。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1508760" cy="292608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31720" y="1325880"/>
            <a:ext cx="2240280" cy="292608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主な問い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00600" y="1325880"/>
            <a:ext cx="2788920" cy="292608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AIエージェントの仕事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18120" y="1325880"/>
            <a:ext cx="2103120" cy="292608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人間/maintainerの判断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149840" y="1325880"/>
            <a:ext cx="1417320" cy="292608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1783080"/>
            <a:ext cx="150876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requirements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331720" y="1783080"/>
            <a:ext cx="224028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何を満たすか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0600" y="1783080"/>
            <a:ext cx="278892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Issue作成、scope/non-goal/acceptance整理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210312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曖昧な要求・優先順位を決める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0149840" y="1783080"/>
            <a:ext cx="141732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4360" y="2697480"/>
            <a:ext cx="150876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331720" y="2697480"/>
            <a:ext cx="224028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どう実現するか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697480"/>
            <a:ext cx="278892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spec/design作成、riskとchecklist整理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18120" y="2697480"/>
            <a:ext cx="210312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公開契約・material designを承認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149840" y="2697480"/>
            <a:ext cx="141732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 / Design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3611880"/>
            <a:ext cx="150876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implementation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331720" y="3611880"/>
            <a:ext cx="224028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承認内容を実装できたか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00600" y="3611880"/>
            <a:ext cx="278892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branch作成、code/test/docs sync、quick/final hooks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18120" y="3611880"/>
            <a:ext cx="210312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scope逸脱時だけ再判断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149840" y="3611880"/>
            <a:ext cx="1417320" cy="749808"/>
          </a:xfrm>
          <a:prstGeom prst="rect">
            <a:avLst/>
          </a:prstGeom>
          <a:solidFill>
            <a:srgbClr val="F3F6FA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 / Tests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526280"/>
            <a:ext cx="150876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review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331720" y="4526280"/>
            <a:ext cx="224028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差分は安全か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4526280"/>
            <a:ext cx="278892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complete diff self-review、PR evidence、指摘対応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18120" y="4526280"/>
            <a:ext cx="210312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レビュー承認 / merge判断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149840" y="4526280"/>
            <a:ext cx="1417320" cy="749808"/>
          </a:xfrm>
          <a:prstGeom prst="rect">
            <a:avLst/>
          </a:prstGeom>
          <a:solidFill>
            <a:srgbClr val="FFFFFF"/>
          </a:solidFill>
          <a:ln w="8890">
            <a:solidFill>
              <a:srgbClr val="D5DE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/ Evidence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22960" y="5669280"/>
            <a:ext cx="10424160" cy="640080"/>
          </a:xfrm>
          <a:prstGeom prst="roundRect">
            <a:avLst>
              <a:gd name="adj" fmla="val 11429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9264" y="5779008"/>
            <a:ext cx="101315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戻り条件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69264" y="6080760"/>
            <a:ext cx="10131552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implementation中にpublic API・compatibility・ownership・threading・dependency・non-goal等のmaterial decisionが不足/矛盾すると判明したら、コードで決めずrequirements/designへ戻る。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 /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「ちゃんとした仕様書・設計書」を作れるようにする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仕様書と設計書を同じ内容の言い換えにしない。責務を分けて、レビュー可能な文書にする。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Specification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2043684"/>
            <a:ext cx="82296" cy="82296"/>
          </a:xfrm>
          <a:prstGeom prst="ellipse">
            <a:avLst/>
          </a:prstGeom>
          <a:solidFill>
            <a:srgbClr val="6C4EE6"/>
          </a:solidFill>
          <a:ln w="12700">
            <a:solidFill>
              <a:srgbClr val="6C4E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965960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外から見える契約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14400" y="2427732"/>
            <a:ext cx="82296" cy="82296"/>
          </a:xfrm>
          <a:prstGeom prst="ellipse">
            <a:avLst/>
          </a:prstGeom>
          <a:solidFill>
            <a:srgbClr val="6C4EE6"/>
          </a:solidFill>
          <a:ln w="12700">
            <a:solidFill>
              <a:srgbClr val="6C4EE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2350008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入力・出力・状態遷移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" y="2811780"/>
            <a:ext cx="82296" cy="82296"/>
          </a:xfrm>
          <a:prstGeom prst="ellipse">
            <a:avLst/>
          </a:prstGeom>
          <a:solidFill>
            <a:srgbClr val="6C4EE6"/>
          </a:solidFill>
          <a:ln w="12700">
            <a:solidFill>
              <a:srgbClr val="6C4EE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2734056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エラー・境界条件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3195828"/>
            <a:ext cx="82296" cy="82296"/>
          </a:xfrm>
          <a:prstGeom prst="ellipse">
            <a:avLst/>
          </a:prstGeom>
          <a:solidFill>
            <a:srgbClr val="6C4EE6"/>
          </a:solidFill>
          <a:ln w="12700">
            <a:solidFill>
              <a:srgbClr val="6C4EE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118104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互換性・バージョン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3579876"/>
            <a:ext cx="82296" cy="82296"/>
          </a:xfrm>
          <a:prstGeom prst="ellipse">
            <a:avLst/>
          </a:prstGeom>
          <a:solidFill>
            <a:srgbClr val="6C4EE6"/>
          </a:solidFill>
          <a:ln w="12700">
            <a:solidFill>
              <a:srgbClr val="6C4E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3502152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MUST / SHOULD / MAY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2043684"/>
            <a:ext cx="82296" cy="82296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965960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内部構造・責務分担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92240" y="2427732"/>
            <a:ext cx="82296" cy="82296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2350008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data/control/failure flow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92240" y="2811780"/>
            <a:ext cx="82296" cy="82296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56832" y="2734056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ownership/lifecycle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92240" y="3195828"/>
            <a:ext cx="82296" cy="82296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3118104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async/threading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92240" y="3579876"/>
            <a:ext cx="82296" cy="82296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3502152"/>
            <a:ext cx="385876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alternatives rejected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212080" y="2697480"/>
            <a:ext cx="868680" cy="0"/>
          </a:xfrm>
          <a:prstGeom prst="line">
            <a:avLst/>
          </a:prstGeom>
          <a:noFill/>
          <a:ln w="2032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983480" y="297180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実装前に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分離する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68680" y="4572000"/>
            <a:ext cx="4297680" cy="777240"/>
          </a:xfrm>
          <a:prstGeom prst="roundRect">
            <a:avLst>
              <a:gd name="adj" fmla="val 9412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" y="4681728"/>
            <a:ext cx="4005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仕様書に書かない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14984" y="4983480"/>
            <a:ext cx="40050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クラス分割、キャッシュ方式、内部イベント経路など、外部契約ではない実装構造。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172200" y="4572000"/>
            <a:ext cx="4297680" cy="777240"/>
          </a:xfrm>
          <a:prstGeom prst="roundRect">
            <a:avLst>
              <a:gd name="adj" fmla="val 9412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18504" y="4681728"/>
            <a:ext cx="4005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設計書に書かない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318504" y="4983480"/>
            <a:ext cx="40050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利用者に保証するAPIやファイル形式そのもの。設計ではspecへのtraceabilityに留める。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914400" y="5897880"/>
            <a:ext cx="9966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テンプレートは docs/standards と validate-docs により、必須章の欠落を検出する。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DOCUMENT QUALITY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文書品質ゲート：雛形と検証で最低ラインを固定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「雰囲気の設計メモ」ではなく、実装・レビューの基準になる文書を作る。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417320"/>
            <a:ext cx="5166360" cy="1280160"/>
          </a:xfrm>
          <a:prstGeom prst="roundRect">
            <a:avLst>
              <a:gd name="adj" fmla="val 5714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1527048"/>
            <a:ext cx="48737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spec-template.md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32104" y="1828800"/>
            <a:ext cx="487375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Purpose / Scope / Terminology / Normative requirements / Observable behavior / Error and boundary / Compatibility / Acceptance traceability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355080" y="1417320"/>
            <a:ext cx="5166360" cy="1280160"/>
          </a:xfrm>
          <a:prstGeom prst="roundRect">
            <a:avLst>
              <a:gd name="adj" fmla="val 5714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1527048"/>
            <a:ext cx="48737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design-template.md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01384" y="1828800"/>
            <a:ext cx="4873752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Context / Requirements traceability / Architecture / Responsibilities / Data flow / Ownership / Error / Async / Migration / Verification / Alternatives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3246120"/>
            <a:ext cx="10469880" cy="914400"/>
          </a:xfrm>
          <a:prstGeom prst="roundRect">
            <a:avLst>
              <a:gd name="adj" fmla="val 3000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195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./scripts/agent/new-doc.sh specification export/csv --issue 123 --title "CSV Export"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./scripts/agent/new-doc.sh design export/csv --issue 123 --title "CSV Export"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./scripts/agent/validate-docs.sh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14400" y="4695444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617720"/>
            <a:ext cx="971092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文書名は `*-spec.md`, `*-design.md`, `*-status.md` で、エディタのタブでも種類が分かる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914400" y="5088636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5010912"/>
            <a:ext cx="971092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template marker がない文書や、必須章が欠けた文書を `validate-docs` で検出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914400" y="5481828"/>
            <a:ext cx="82296" cy="82296"/>
          </a:xfrm>
          <a:prstGeom prst="ellipse">
            <a:avLst/>
          </a:prstGeom>
          <a:solidFill>
            <a:srgbClr val="2EAD65"/>
          </a:solidFill>
          <a:ln w="12700">
            <a:solidFill>
              <a:srgbClr val="2EAD65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5404104"/>
            <a:ext cx="971092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N/Aは許可。ただし「なぜ不要か」を明記し、重要論点を黙って消さない</a:t>
            </a:r>
            <a:endParaRPr lang="en-US" sz="12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 EXAMPLE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仕様書の具体例：CSV Exportなら何を書くか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「CSVを書き出す」だけでは実装判断が残る。観測可能な契約まで決める。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32588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143560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Purpose / Scope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32104" y="1737360"/>
            <a:ext cx="49194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ユーザーがTask一覧をCSVとして保存できる。画面に表示中のfilter結果のみを対象とする。添付ファイルのbinary exportは対象外。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263640" y="132588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9944" y="143560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Normative requirements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9944" y="1737360"/>
            <a:ext cx="49194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with BOM、header順序固定、改行はRFC 4180互換のquote規則、同一入力ではrow順序を保持。空結果でもheaderは出力する。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85800" y="274320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" y="285292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Error / Boundary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2104" y="3154680"/>
            <a:ext cx="49194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permission denied / disk full / cancel / 0件 / field内comma・quote・newline / 非BMP文字を定義し、partial fileを残すかどうかも契約化。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63640" y="274320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9944" y="2852928"/>
            <a:ext cx="49194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Compatibility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9944" y="3154680"/>
            <a:ext cx="491947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column追加・削除・renameをversioning対象とするか、既存consumerへの影響、platformごとの差異を明示。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914400" y="4343400"/>
            <a:ext cx="10058400" cy="1051560"/>
          </a:xfrm>
          <a:prstGeom prst="roundRect">
            <a:avLst>
              <a:gd name="adj" fmla="val 2609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462272"/>
            <a:ext cx="9784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MUST: output columns = id,title,status,updated_at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MUST: preserve current filtered order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MUST NOT: leave a partial destination file after a failed write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SHOULD: report a user-readable failure reason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14400" y="589788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Acceptance criteriaは「CSVが出る」ではなく、上記contractを観測できるテストケースへ分解する。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 EXAMPLE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設計書の具体例：仕様をどう実装へ落とすか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Designは内部責務・data flow・failure flowを決め、実装時に重大な設計判断を残さない。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70992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 / Command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0392" y="2039112"/>
            <a:ext cx="15910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export request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path + current query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971800" y="16002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70992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Export Service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90672" y="2039112"/>
            <a:ext cx="15910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orchestration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validation/cancel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5212080" y="16002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21808" y="170992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Encoder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30952" y="2039112"/>
            <a:ext cx="15910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escaping/schema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streaming rows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7452360" y="16002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62088" y="170992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Atomic Writer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571232" y="2039112"/>
            <a:ext cx="15910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temp file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rename/cleanup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9692640" y="16002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02368" y="1709928"/>
            <a:ext cx="16093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Filesystem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811512" y="2039112"/>
            <a:ext cx="159105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permission/full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platform errors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2560320" y="2029968"/>
            <a:ext cx="365760" cy="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800600" y="2029968"/>
            <a:ext cx="365760" cy="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40880" y="2029968"/>
            <a:ext cx="365760" cy="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281160" y="2029968"/>
            <a:ext cx="365760" cy="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77240" y="324612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" y="3355848"/>
            <a:ext cx="2999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Ownership / lifecycle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23544" y="3657600"/>
            <a:ext cx="299923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Export Service owns cancellation scope。Atomic Writer owns temp file lifecycle and guarantees cleanup on failure/cancel。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434840" y="324612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81144" y="3355848"/>
            <a:ext cx="2999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Failure flow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81144" y="3657600"/>
            <a:ext cx="299923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Encoder error / write error / rename errorをtyped errorへ変換し、UIへ伝播。partial destinationは残さない。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8092440" y="324612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38744" y="3355848"/>
            <a:ext cx="2999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Verification strategy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38744" y="3657600"/>
            <a:ext cx="299923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encoder unit tests + temp file integration + permission/disk failure simulation + cancellation test。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914400" y="4937760"/>
            <a:ext cx="10058400" cy="777240"/>
          </a:xfrm>
          <a:prstGeom prst="roundRect">
            <a:avLst>
              <a:gd name="adj" fmla="val 9412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0704" y="5047488"/>
            <a:ext cx="9765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Alternatives rejected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060704" y="5349240"/>
            <a:ext cx="97657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全rowをmemoryへ構築して一括writeは、大規模export時のmemory増加が仕様外riskになるため不採用。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TECH PROFILE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技術スタック最適化：project profile と hooks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テンプレートの共通ルールと、プロジェクト固有の検証・clean・buildコマンドを分離する。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577840" cy="3657600"/>
          </a:xfrm>
          <a:prstGeom prst="roundRect">
            <a:avLst>
              <a:gd name="adj" fmla="val 750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36192"/>
            <a:ext cx="5303520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"stacks": ["rust", "node"],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"hooks": {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"branch_switch": ["cargo clean"],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"verify_quick": ["cargo check --workspace", "npm run typecheck"],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"verify_final": ["cargo fmt --all -- --check", "cargo test --workspace", "npm test"]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720840" y="1417320"/>
            <a:ext cx="4434840" cy="822960"/>
          </a:xfrm>
          <a:prstGeom prst="roundRect">
            <a:avLst>
              <a:gd name="adj" fmla="val 8889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67144" y="1527048"/>
            <a:ext cx="4142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自動検出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67144" y="1828800"/>
            <a:ext cx="414223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`Cargo.toml`, `package.json`, `pyproject.toml`, `*.sln` / `*.csproj` から初期値を生成。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720840" y="2514600"/>
            <a:ext cx="4434840" cy="822960"/>
          </a:xfrm>
          <a:prstGeom prst="roundRect">
            <a:avLst>
              <a:gd name="adj" fmla="val 888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67144" y="2624328"/>
            <a:ext cx="4142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Rust例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67144" y="2926080"/>
            <a:ext cx="414223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`--cargo-clean on` で、実際にfeature branchへ切り替わった時だけ `cargo clean` を実行。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720840" y="3611880"/>
            <a:ext cx="4434840" cy="822960"/>
          </a:xfrm>
          <a:prstGeom prst="roundRect">
            <a:avLst>
              <a:gd name="adj" fmla="val 8889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7144" y="3721608"/>
            <a:ext cx="4142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混在プロジェクト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67144" y="4023360"/>
            <a:ext cx="414223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Rust + Nodeなどではquick/final hookを両方持てる。CIゲートと一致させる。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720840" y="4709160"/>
            <a:ext cx="4434840" cy="822960"/>
          </a:xfrm>
          <a:prstGeom prst="roundRect">
            <a:avLst>
              <a:gd name="adj" fmla="val 8889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7144" y="4818888"/>
            <a:ext cx="414223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867144" y="5120640"/>
            <a:ext cx="414223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workflow文書に技術コマンドを重複記載せず、`.agent/project.json` を実行ポリシーの正本にする。</a:t>
            </a:r>
            <a:endParaRPr lang="en-US" sz="9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SCRIPT SUITE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主要スクリプト：日常操作を短いコマンドへ集約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Shell/PowerShellは薄いラッパーで、共通ロジックは agent_tool.py に集約。OS差を減らす。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417320"/>
            <a:ext cx="3154680" cy="1371600"/>
          </a:xfrm>
          <a:prstGeom prst="roundRect">
            <a:avLst>
              <a:gd name="adj" fmla="val 5333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1527048"/>
            <a:ext cx="2862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32104" y="1828800"/>
            <a:ext cx="286207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`init-project`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`setup-github`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434840" y="1417320"/>
            <a:ext cx="3154680" cy="1371600"/>
          </a:xfrm>
          <a:prstGeom prst="roundRect">
            <a:avLst>
              <a:gd name="adj" fmla="val 5333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1527048"/>
            <a:ext cx="2862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作業開始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81144" y="1828800"/>
            <a:ext cx="286207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`agent-context`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`prepare-self-review`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`start-feature-branch`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183880" y="1417320"/>
            <a:ext cx="3154680" cy="1371600"/>
          </a:xfrm>
          <a:prstGeom prst="roundRect">
            <a:avLst>
              <a:gd name="adj" fmla="val 5333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0184" y="1527048"/>
            <a:ext cx="2862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実装中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30184" y="1828800"/>
            <a:ext cx="286207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`run-hook verify_quick`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`save-work-checkpoint`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`resume-work`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85800" y="3474720"/>
            <a:ext cx="3154680" cy="1371600"/>
          </a:xfrm>
          <a:prstGeom prst="roundRect">
            <a:avLst>
              <a:gd name="adj" fmla="val 5333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3584448"/>
            <a:ext cx="2862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" y="3886200"/>
            <a:ext cx="286207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`run-hook verify_final`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`validate-docs`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`validate-self-review`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434840" y="3474720"/>
            <a:ext cx="3154680" cy="1371600"/>
          </a:xfrm>
          <a:prstGeom prst="roundRect">
            <a:avLst>
              <a:gd name="adj" fmla="val 5333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81144" y="3584448"/>
            <a:ext cx="28620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保守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81144" y="3886200"/>
            <a:ext cx="2862072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`new-doc`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`save-implementation-contract`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`update-template`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7909560" y="3703320"/>
            <a:ext cx="3246120" cy="1143000"/>
          </a:xfrm>
          <a:prstGeom prst="roundRect">
            <a:avLst>
              <a:gd name="adj" fmla="val 2400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3822192"/>
            <a:ext cx="29718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./scripts/agent/agent-context.sh 123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./scripts/agent/run-hook.sh verify_quick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./scripts/agent/validate-self-review.sh 123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914400" y="608076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ポイント: エージェントはコマンド名を覚えるのではなく、phase workflowから必要なhelperを読む。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SELF REVIEW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セルフレビュー：会話の記憶ではなく、commit済みHEADへ固定する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PR前のレビュー品質を安定させるため、Issue checklist + contract checklist + SHA + HEADを検証する。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618488"/>
            <a:ext cx="21122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 Reviewer Checklist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0392" y="1947672"/>
            <a:ext cx="209397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task-specific risk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acceptanceだけでは不足する観点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731520" y="2834640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944368"/>
            <a:ext cx="21122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Implementation Contract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" y="3273552"/>
            <a:ext cx="209397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外部AI/人間が作成した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decision-complete handoff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127248" y="1965960"/>
            <a:ext cx="850392" cy="64008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127248" y="3291840"/>
            <a:ext cx="850392" cy="-50292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069080" y="233172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8808" y="2441448"/>
            <a:ext cx="2249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prepare-self-review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87952" y="2770632"/>
            <a:ext cx="22311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effective checklist + sha256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self-review.md生成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6583680" y="2816352"/>
            <a:ext cx="731520" cy="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06640" y="23317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16368" y="2441448"/>
            <a:ext cx="174650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Committed HEAD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25512" y="2770632"/>
            <a:ext cx="172821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Reviewed-HEAD = current commit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worktree clean required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9418320" y="2816352"/>
            <a:ext cx="502920" cy="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012680" y="23317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22408" y="2441448"/>
            <a:ext cx="13807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validate-self-review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131552" y="2770632"/>
            <a:ext cx="136245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PENDING / FAIL / stale HEAD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missing evidenceを拒否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914400" y="4892040"/>
            <a:ext cx="10058400" cy="914400"/>
          </a:xfrm>
          <a:prstGeom prst="roundRect">
            <a:avLst>
              <a:gd name="adj" fmla="val 3000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010912"/>
            <a:ext cx="9784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Reviewed-HEAD: &lt;40-char commit sha&gt;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I001 | PASS | Evidence: test:csv_export_roundtrip cmd:cargo_test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I002 | N/A  | Reason: no public API change in this task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914400" y="6080760"/>
            <a:ext cx="10058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新しいcommitが入った時点で以前のself-reviewはstale。再度diff全体を見てvalidateする。</a:t>
            </a:r>
            <a:endParaRPr lang="en-US" sz="11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GitHub運用：Issue labels / templates / PR bodyを標準化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AIエージェントはGitHub上の状態を読んで、次に読むworkflow文書を決める。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7240" y="150876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EEF4FF"/>
          </a:solidFill>
          <a:ln w="12700">
            <a:solidFill>
              <a:srgbClr val="EEF4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58191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phase:requirements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069080" y="150876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EEF4FF"/>
          </a:solidFill>
          <a:ln w="12700">
            <a:solidFill>
              <a:srgbClr val="EEF4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42232" y="158191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phase:design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360920" y="150876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EEF4FF"/>
          </a:solidFill>
          <a:ln w="12700">
            <a:solidFill>
              <a:srgbClr val="EEF4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34072" y="158191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phase:ready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201168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EEF4FF"/>
          </a:solidFill>
          <a:ln w="12700">
            <a:solidFill>
              <a:srgbClr val="EEF4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08483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phase:implementation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069080" y="201168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EEF4FF"/>
          </a:solidFill>
          <a:ln w="12700">
            <a:solidFill>
              <a:srgbClr val="EEF4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42232" y="208483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phase:review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360920" y="201168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FDECEC"/>
          </a:solidFill>
          <a:ln w="12700">
            <a:solidFill>
              <a:srgbClr val="FDEC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34072" y="208483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needs-user-decision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2514600"/>
            <a:ext cx="2514600" cy="329184"/>
          </a:xfrm>
          <a:prstGeom prst="roundRect">
            <a:avLst>
              <a:gd name="adj" fmla="val 13889"/>
            </a:avLst>
          </a:prstGeom>
          <a:solidFill>
            <a:srgbClr val="FDECEC"/>
          </a:solidFill>
          <a:ln w="12700">
            <a:solidFill>
              <a:srgbClr val="FDECEC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" y="2587752"/>
            <a:ext cx="23682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blocked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2296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9264" y="3218688"/>
            <a:ext cx="30906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 Form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69264" y="3520440"/>
            <a:ext cx="30906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Feature/Bugの初期入力欄を用意。最初からphase:requirementsを付ける。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43484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3218688"/>
            <a:ext cx="30906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Template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81144" y="3520440"/>
            <a:ext cx="30906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Purpose / Delta / Design deviations / Verification / Risk / Reviewer focus / Closes #issue。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04672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93024" y="3218688"/>
            <a:ext cx="30906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setup-github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193024" y="3520440"/>
            <a:ext cx="309067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必要labelを作成/更新。リポジトリ移植後の初回セットアップに使う。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4400" y="4892040"/>
            <a:ext cx="10058400" cy="841248"/>
          </a:xfrm>
          <a:prstGeom prst="roundRect">
            <a:avLst>
              <a:gd name="adj" fmla="val 3261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51560" y="5010912"/>
            <a:ext cx="9784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./scripts/agent/setup-github.sh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issue edit 123 --add-label phase:design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create --body-file pr-body.md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6053328"/>
            <a:ext cx="10058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Markdownの複数行本文は body-file を使い、literal `\n` を改行代わりにしない。</a:t>
            </a:r>
            <a:endParaRPr lang="en-US" sz="11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TEMPLATE UPDATE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テンプレート改善を開発中プロジェクトへ反映できるようにする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テンプレートは一度導入して終わりではなく、管理ファイルだけを安全に追従更新できる必要がある。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69164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801368"/>
            <a:ext cx="20208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Template repo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41832" y="2130552"/>
            <a:ext cx="20025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 / workflow / standards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scripts / presentation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657600" y="169164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7328" y="1801368"/>
            <a:ext cx="20208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Managed manifest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776472" y="2130552"/>
            <a:ext cx="20025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どのファイルをtemplate管理するか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前回hashを記録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492240" y="169164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01968" y="1801368"/>
            <a:ext cx="20208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Target project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11112" y="2130552"/>
            <a:ext cx="20025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project overrides / product docs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source codeは保持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9326880" y="169164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36608" y="1801368"/>
            <a:ext cx="20208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Conflict report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445752" y="2130552"/>
            <a:ext cx="200253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手動mergeが必要な変更だけ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一覧化して止める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3063240" y="2176272"/>
            <a:ext cx="594360" cy="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897880" y="2176272"/>
            <a:ext cx="594360" cy="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732520" y="2176272"/>
            <a:ext cx="594360" cy="0"/>
          </a:xfrm>
          <a:prstGeom prst="line">
            <a:avLst/>
          </a:prstGeom>
          <a:noFill/>
          <a:ln w="1905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4400" y="365760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767328"/>
            <a:ext cx="45079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安全な更新ルール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0704" y="4069080"/>
            <a:ext cx="450799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前回同期後にtarget側が未変更なら自動更新。target側とtemplate側の両方が変わったら衝突として停止。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0" y="365760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47104" y="3767328"/>
            <a:ext cx="45079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保持するもの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47104" y="4069080"/>
            <a:ext cx="4507992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`.agent/project.json` のプロジェクト固有hook、docs/specs/design/status、source code、Issue固有stateは勝手に上書きしない。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14400" y="5166360"/>
            <a:ext cx="10058400" cy="731520"/>
          </a:xfrm>
          <a:prstGeom prst="roundRect">
            <a:avLst>
              <a:gd name="adj" fmla="val 3750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5285232"/>
            <a:ext cx="9784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./scripts/agent/update-template.sh --source ../ai-agent-project-template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./scripts/agent/update-template.sh --source ../ai-agent-project-template --check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UPDATE PROCEDURE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更新手順：テンプレートの改善を既存repoへ取り込む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更新は1つの専用Issue/PRとして扱い、開発機能のPRと混ぜない。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508760"/>
            <a:ext cx="384048" cy="34747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280160" y="14630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26464" y="1572768"/>
            <a:ext cx="23591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テンプレートを取得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426464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`git pull` or ZIP展開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4480560" y="1508760"/>
            <a:ext cx="384048" cy="34747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983480" y="14630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9784" y="1572768"/>
            <a:ext cx="23591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対象repoでcheck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29784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`update-template --check`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8183880" y="1508760"/>
            <a:ext cx="384048" cy="34747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86800" y="14630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33104" y="1572768"/>
            <a:ext cx="23591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差分確認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33104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managed filesのみ更新対象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777240" y="3429000"/>
            <a:ext cx="384048" cy="34747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280160" y="338328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26464" y="3493008"/>
            <a:ext cx="23591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衝突解消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426464" y="3794760"/>
            <a:ext cx="235915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project overrideを優先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4480560" y="3429000"/>
            <a:ext cx="384048" cy="34747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983480" y="338328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9784" y="3493008"/>
            <a:ext cx="23591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29784" y="3794760"/>
            <a:ext cx="235915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`validate-docs` + hooks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8183880" y="3429000"/>
            <a:ext cx="384048" cy="34747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686800" y="338328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33104" y="3493008"/>
            <a:ext cx="23591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PR化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833104" y="3794760"/>
            <a:ext cx="235915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テンプレート更新専用PR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868680" y="5806440"/>
            <a:ext cx="104241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更新PRで見るべき点: AGENTS/workflow変更が既存project policyと矛盾しないか、hooksが意図せず変わっていないか、説明資料も最新版か。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UPDATE CONFLICTS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テンプレート更新時の判断：3-wayで自動更新か衝突かを決める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「新しいtemplate」と「前回同期時」と「現在のtarget」を比較し、project固有変更を黙って消さない。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96596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Template changed?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2926080" y="1325880"/>
            <a:ext cx="196596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Target changed?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166360" y="1325880"/>
            <a:ext cx="196596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406640" y="1325880"/>
            <a:ext cx="196596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9646920" y="1325880"/>
            <a:ext cx="1828800" cy="320040"/>
          </a:xfrm>
          <a:prstGeom prst="rect">
            <a:avLst/>
          </a:prstGeom>
          <a:solidFill>
            <a:srgbClr val="0B1F3A"/>
          </a:solidFill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685800" y="178308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26080" y="178308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178308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No-op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06640" y="178308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何もしない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646920" y="1783080"/>
            <a:ext cx="182880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両方とも前回同期と同じ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2606040"/>
            <a:ext cx="1965960" cy="658368"/>
          </a:xfrm>
          <a:prstGeom prst="rect">
            <a:avLst/>
          </a:prstGeom>
          <a:solidFill>
            <a:srgbClr val="E9F7EE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26080" y="2606040"/>
            <a:ext cx="1965960" cy="658368"/>
          </a:xfrm>
          <a:prstGeom prst="rect">
            <a:avLst/>
          </a:prstGeom>
          <a:solidFill>
            <a:srgbClr val="E9F7EE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166360" y="2606040"/>
            <a:ext cx="1965960" cy="658368"/>
          </a:xfrm>
          <a:prstGeom prst="rect">
            <a:avLst/>
          </a:prstGeom>
          <a:solidFill>
            <a:srgbClr val="E9F7EE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Safe update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406640" y="2606040"/>
            <a:ext cx="1965960" cy="658368"/>
          </a:xfrm>
          <a:prstGeom prst="rect">
            <a:avLst/>
          </a:prstGeom>
          <a:solidFill>
            <a:srgbClr val="E9F7EE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自動置換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646920" y="2606040"/>
            <a:ext cx="1828800" cy="658368"/>
          </a:xfrm>
          <a:prstGeom prst="rect">
            <a:avLst/>
          </a:prstGeom>
          <a:solidFill>
            <a:srgbClr val="E9F7EE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target側にlocal editなし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" y="342900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26080" y="342900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166360" y="342900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Keep local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406640" y="3429000"/>
            <a:ext cx="196596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target維持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646920" y="3429000"/>
            <a:ext cx="1828800" cy="658368"/>
          </a:xfrm>
          <a:prstGeom prst="rect">
            <a:avLst/>
          </a:prstGeom>
          <a:solidFill>
            <a:srgbClr val="F7F9F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project固有変更のみ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4251960"/>
            <a:ext cx="1965960" cy="658368"/>
          </a:xfrm>
          <a:prstGeom prst="rect">
            <a:avLst/>
          </a:prstGeom>
          <a:solidFill>
            <a:srgbClr val="FDECE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926080" y="4251960"/>
            <a:ext cx="1965960" cy="658368"/>
          </a:xfrm>
          <a:prstGeom prst="rect">
            <a:avLst/>
          </a:prstGeom>
          <a:solidFill>
            <a:srgbClr val="FDECE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Yes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166360" y="4251960"/>
            <a:ext cx="1965960" cy="658368"/>
          </a:xfrm>
          <a:prstGeom prst="rect">
            <a:avLst/>
          </a:prstGeom>
          <a:solidFill>
            <a:srgbClr val="FDECE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Conflict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406640" y="4251960"/>
            <a:ext cx="1965960" cy="658368"/>
          </a:xfrm>
          <a:prstGeom prst="rect">
            <a:avLst/>
          </a:prstGeom>
          <a:solidFill>
            <a:srgbClr val="FDECE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incoming作成・停止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646920" y="4251960"/>
            <a:ext cx="1828800" cy="658368"/>
          </a:xfrm>
          <a:prstGeom prst="rect">
            <a:avLst/>
          </a:prstGeom>
          <a:solidFill>
            <a:srgbClr val="FDECEC"/>
          </a:solidFill>
          <a:ln w="8890">
            <a:solidFill>
              <a:srgbClr val="D5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双方変更。自動mergeしない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68680" y="5303520"/>
            <a:ext cx="10149840" cy="868680"/>
          </a:xfrm>
          <a:prstGeom prst="roundRect">
            <a:avLst>
              <a:gd name="adj" fmla="val 3158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" y="5422392"/>
            <a:ext cx="9875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./scripts/agent/update-template.sh --source ../ai-agent-project-template --check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./scripts/agent/update-template.sh --source ../ai-agent-project-template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conflict: &lt;file&gt;.incoming-template を確認 → 手動merge → 再実行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ADOPTION: NEW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新規プロジェクトへの導入手順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template repositoryとして使う場合、最初の数分でAIエージェント向けの骨格を作る。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852160" cy="2194560"/>
          </a:xfrm>
          <a:prstGeom prst="roundRect">
            <a:avLst>
              <a:gd name="adj" fmla="val 1250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36192"/>
            <a:ext cx="557784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GitHub templateから新repoを作成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auth login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./scripts/agent/init-project.sh --stack rust --cargo-clean on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./scripts/agent/setup-github.sh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./scripts/agent/validate-docs.sh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 &amp;&amp; git commit -m "Initialize AI agent project workflow"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6995160" y="1417320"/>
            <a:ext cx="4251960" cy="822960"/>
          </a:xfrm>
          <a:prstGeom prst="roundRect">
            <a:avLst>
              <a:gd name="adj" fmla="val 8889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1464" y="1527048"/>
            <a:ext cx="39593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初回確認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141464" y="1828800"/>
            <a:ext cx="395935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`.agent/project.json` のstacks/hooks、`docs/agents/project.md`、`.gitignore`、GitHub labels。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995160" y="2514600"/>
            <a:ext cx="4251960" cy="822960"/>
          </a:xfrm>
          <a:prstGeom prst="roundRect">
            <a:avLst>
              <a:gd name="adj" fmla="val 8889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1464" y="2624328"/>
            <a:ext cx="39593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最初のIssue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41464" y="2926080"/>
            <a:ext cx="395935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プロジェクト方針やMVPをrequirements phaseでIssue化し、spec/designの初期文書を作る。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995160" y="3611880"/>
            <a:ext cx="4251960" cy="822960"/>
          </a:xfrm>
          <a:prstGeom prst="roundRect">
            <a:avLst>
              <a:gd name="adj" fmla="val 888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1464" y="3721608"/>
            <a:ext cx="39593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最初に決めること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41464" y="4023360"/>
            <a:ext cx="395935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CIゲート、ブランチ命名、version milestone、仕様書の粒度、docs/statusの運用範囲。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91440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新規導入の成功条件: 「AIに任せるためのルール」をREADMEだけでなく、scriptsと検証ゲートまで含めてrepoに固定する。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ADOPTION: EXISTING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既存プロジェクトへの導入手順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既存ルールを壊さず、AIエージェント向けの入口と文書責務を段階的に追加する。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13990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74520" y="139903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46120" y="1380744"/>
            <a:ext cx="7589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既存AGENTS/CLAUDE/README/CI/docsを確認し、何が正本かを特定。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1170432" y="1801368"/>
            <a:ext cx="0" cy="301752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" y="226771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B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874520" y="226771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コピー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46120" y="2249424"/>
            <a:ext cx="7589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docs/agent-workflow, docs/standards, docs/templates, scripts/agent, .agent を追加。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1170432" y="2670048"/>
            <a:ext cx="0" cy="301752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31520" y="313639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C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874520" y="31363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3118104"/>
            <a:ext cx="7589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既存ルールをAGENTS.mdへ統合し、provider固有ファイルはrouter化。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1170432" y="3538728"/>
            <a:ext cx="0" cy="301752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31520" y="400507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874520" y="400507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初期化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46120" y="3986784"/>
            <a:ext cx="7589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init-projectで技術profileを生成し、hooksをCIに合わせる。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1170432" y="4407408"/>
            <a:ext cx="0" cy="301752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31520" y="48737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874520" y="487375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PR化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246120" y="4855464"/>
            <a:ext cx="7589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導入そのものをIssue/PRでレビューし、以後はphase workflowで運用。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914400" y="5715000"/>
            <a:ext cx="9966960" cy="594360"/>
          </a:xfrm>
          <a:prstGeom prst="roundRect">
            <a:avLst>
              <a:gd name="adj" fmla="val 12308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5824728"/>
            <a:ext cx="967435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移行時の注意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60704" y="6126480"/>
            <a:ext cx="9674352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既存docsを一括でspec/design/statusに移動しない。まず責務の対応表を作り、今後の変更から同期ルールを適用する。</a:t>
            </a:r>
            <a:endParaRPr lang="en-US" sz="9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運用例：CSV export機能を追加する場合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この1枚で、通常の機能追加がどのように流れるかを確認できる。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50876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618488"/>
            <a:ext cx="1106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1947672"/>
            <a:ext cx="108813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exportを追加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011680" y="1938528"/>
            <a:ext cx="576072" cy="50292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06040" y="20116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15768" y="2121408"/>
            <a:ext cx="1106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24912" y="2450592"/>
            <a:ext cx="108813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scope / non-goal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acceptance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3931920" y="2441448"/>
            <a:ext cx="576072" cy="-50292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26280" y="150876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36008" y="1618488"/>
            <a:ext cx="1106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45152" y="1947672"/>
            <a:ext cx="108813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CSV形式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エラー/互換性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852160" y="1938528"/>
            <a:ext cx="576072" cy="50292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46520" y="20116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6248" y="2121408"/>
            <a:ext cx="1106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65392" y="2450592"/>
            <a:ext cx="108813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module責務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streaming方針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7772400" y="2441448"/>
            <a:ext cx="576072" cy="-50292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366760" y="150876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6488" y="1618488"/>
            <a:ext cx="1106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485632" y="1947672"/>
            <a:ext cx="108813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branch + tests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hooks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9692640" y="1938528"/>
            <a:ext cx="576072" cy="502920"/>
          </a:xfrm>
          <a:prstGeom prst="line">
            <a:avLst/>
          </a:prstGeom>
          <a:noFill/>
          <a:ln w="1397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287000" y="20116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96728" y="2121408"/>
            <a:ext cx="11064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405872" y="2450592"/>
            <a:ext cx="1088136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delta + evidence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review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914400" y="3931920"/>
            <a:ext cx="10058400" cy="1691640"/>
          </a:xfrm>
          <a:prstGeom prst="roundRect">
            <a:avLst>
              <a:gd name="adj" fmla="val 1622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51560" y="4050792"/>
            <a:ext cx="97840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./scripts/agent/new-doc.sh specification export/csv --issue 123 --title "CSV Export"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./scripts/agent/new-doc.sh design export/csv --issue 123 --title "CSV Export"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./scripts/agent/prepare-self-review.sh 123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./scripts/agent/start-feature-branch.sh 123 "csv export"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./scripts/agent/run-hook.sh verify_final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./scripts/agent/validate-self-review.sh 123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91440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成果物: Issueのacceptance、csv-export-spec.md、csv-export-design.md、実装、テスト、PR evidenceが一貫して残る。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LESSONS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過去運用から入れた改善点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elwindui等のAIエージェント運用で実際に効いた制約を、汎用テンプレートへ移植。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3544" y="143560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Issue-first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23544" y="1737360"/>
            <a:ext cx="44622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エージェントのPlan Modeより前にIssue所有を固定する。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263640" y="132588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9944" y="143560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Body-file invariant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9944" y="1737360"/>
            <a:ext cx="44622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複数行Markdownはbody-file。literal \n 事故を防ぐ。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65176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" y="276148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Exact contract mirror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23544" y="3063240"/>
            <a:ext cx="44622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Implementation ContractはSHA付きで保存し、要約からレビューしない。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63640" y="265176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9944" y="276148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HEAD-bound review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9944" y="3063240"/>
            <a:ext cx="44622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self-reviewはcommit済みHEADに固定。新commitでstale。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77240" y="397764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3544" y="408736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 are not logs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3544" y="4389120"/>
            <a:ext cx="44622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statusに履歴や生ログを溜めず、Issue/PR/evidenceへ分離。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263640" y="397764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408736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Tech policy as data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9944" y="4389120"/>
            <a:ext cx="44622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cargo clean等はRust固有profileに置き、汎用workflowに埋め込まない。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914400" y="5897880"/>
            <a:ext cx="10058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これらは「AIが賢いか」ではなく「失敗してもプロセスが検出・停止できるか」を重視したルール。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CUSTOMIZATION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カスタマイズポイント：変える場所と変えない場所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テンプレート更新可能性を保つため、共通ルールとプロジェクト固有ルールの境界を守る。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508760"/>
            <a:ext cx="4754880" cy="1417320"/>
          </a:xfrm>
          <a:prstGeom prst="roundRect">
            <a:avLst>
              <a:gd name="adj" fmla="val 5161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61848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変える場所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69264" y="1920240"/>
            <a:ext cx="446227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`.agent/project.json`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`docs/agents/project.md`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技術別guide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CI/workflow-specific hooks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446520" y="1508760"/>
            <a:ext cx="4754880" cy="1417320"/>
          </a:xfrm>
          <a:prstGeom prst="roundRect">
            <a:avLst>
              <a:gd name="adj" fmla="val 5161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1618488"/>
            <a:ext cx="446227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慎重に変える場所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92824" y="1920240"/>
            <a:ext cx="4462272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`AGENTS.md`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`docs/agent-workflow/*`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`scripts/agent/*`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`docs/standards/*`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440680" y="2212848"/>
            <a:ext cx="868680" cy="0"/>
          </a:xfrm>
          <a:prstGeom prst="line">
            <a:avLst/>
          </a:prstGeom>
          <a:noFill/>
          <a:ln w="2032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10058400" cy="777240"/>
          </a:xfrm>
          <a:prstGeom prst="roundRect">
            <a:avLst>
              <a:gd name="adj" fmla="val 9412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3813048"/>
            <a:ext cx="9765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更新時に守る境界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60704" y="4114800"/>
            <a:ext cx="976579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共通ファイルを直接forkしすぎるとテンプレート改善を取り込みづらくなる。プロジェクト固有差分はprofile/agents guideに寄せる。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4846320"/>
            <a:ext cx="10058400" cy="960120"/>
          </a:xfrm>
          <a:prstGeom prst="roundRect">
            <a:avLst>
              <a:gd name="adj" fmla="val 2857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965192"/>
            <a:ext cx="97840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Good: project-specific policy as profile data</a:t>
            </a: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"hooks": { "verify_final": ["cargo test --workspace", "npm test"] }</a:t>
            </a:r>
            <a:endParaRPr lang="en-US" sz="870" dirty="0"/>
          </a:p>
          <a:p>
            <a:pPr indent="0" marL="0">
              <a:buNone/>
            </a:pPr>
            <a:endParaRPr lang="en-US" sz="870" dirty="0"/>
          </a:p>
          <a:p>
            <a:pPr indent="0" marL="0">
              <a:buNone/>
            </a:pPr>
            <a:r>
              <a:rPr lang="en-US" sz="87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Avoid: hard-code project-specific commands into workflow docs</a:t>
            </a:r>
            <a:endParaRPr lang="en-US" sz="87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ROLLOUT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導入計画と成功指標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まず1リポジトリで試し、テンプレート更新・既存プロジェクト反映まで含めて検証する。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50876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618488"/>
            <a:ext cx="18379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Pilot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41832" y="1947672"/>
            <a:ext cx="181965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repoで導入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1〜2件の小Issueで試す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880360" y="1993392"/>
            <a:ext cx="658368" cy="411480"/>
          </a:xfrm>
          <a:prstGeom prst="line">
            <a:avLst/>
          </a:prstGeom>
          <a:noFill/>
          <a:ln w="1524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56616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75888" y="2029968"/>
            <a:ext cx="18379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Stabilize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85032" y="2359152"/>
            <a:ext cx="181965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hooks/文書粒度/PRテンプレを調整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5623560" y="2404872"/>
            <a:ext cx="658368" cy="-411480"/>
          </a:xfrm>
          <a:prstGeom prst="line">
            <a:avLst/>
          </a:prstGeom>
          <a:noFill/>
          <a:ln w="1524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09360" y="150876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1618488"/>
            <a:ext cx="18379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Scale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28232" y="1947672"/>
            <a:ext cx="181965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他repoへupdate-templateで展開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8366760" y="1993392"/>
            <a:ext cx="658368" cy="411480"/>
          </a:xfrm>
          <a:prstGeom prst="line">
            <a:avLst/>
          </a:prstGeom>
          <a:noFill/>
          <a:ln w="15240">
            <a:solidFill>
              <a:srgbClr val="D5DEE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5256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62288" y="2029968"/>
            <a:ext cx="183794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Govern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71432" y="2359152"/>
            <a:ext cx="1819656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定期的にworkflow改善をtemplateへ戻す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914400" y="3977640"/>
            <a:ext cx="10058400" cy="822960"/>
          </a:xfrm>
          <a:prstGeom prst="roundRect">
            <a:avLst>
              <a:gd name="adj" fmla="val 8889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4087368"/>
            <a:ext cx="9765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見る指標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0704" y="4389120"/>
            <a:ext cx="97657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Issueなし作業の発生数 / requirements差し戻し回数 / docs drift / PRレビュー指摘の再発 / 再開時の調査時間 / hook失敗検出率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5166360"/>
            <a:ext cx="10058400" cy="822960"/>
          </a:xfrm>
          <a:prstGeom prst="roundRect">
            <a:avLst>
              <a:gd name="adj" fmla="val 888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0704" y="5276088"/>
            <a:ext cx="976579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成功状態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0704" y="5577840"/>
            <a:ext cx="97657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AIエージェントが違っても、開始順序・参照文書・検証・完了条件が同じになる。人間は最終判断と優先順位に集中できる。</a:t>
            </a:r>
            <a:endParaRPr lang="en-US" sz="9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TROUBLESHOOTING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よくある詰まりどころと確認順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失敗時は会話を長くする前に、repository状態・phase・profile・helper出力を確認する。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2801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E8F0FF"/>
          </a:solidFill>
          <a:ln w="12700">
            <a:solidFill>
              <a:srgbClr val="1E6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1389888"/>
            <a:ext cx="4782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4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`gh auth status` が失敗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32104" y="1691640"/>
            <a:ext cx="47823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認証をやり直す。organization policy / SSO / GitHub App permissionも確認。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309360" y="12801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0EDFF"/>
          </a:solidFill>
          <a:ln w="12700">
            <a:solidFill>
              <a:srgbClr val="6C4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5664" y="1389888"/>
            <a:ext cx="4782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E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Issueなしで実装を始めた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55664" y="1691640"/>
            <a:ext cx="47823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変更を止め、requirements workflowへ戻りowning Issueを作成・関連付け。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85800" y="26974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DECEC"/>
          </a:solidFill>
          <a:ln w="12700">
            <a:solidFill>
              <a:srgbClr val="D945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" y="2807208"/>
            <a:ext cx="4782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54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branch helperが停止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2104" y="3108960"/>
            <a:ext cx="47823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`git status --porcelain` を確認。dirty worktreeをcommit/stash/discardして再実行。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2700">
            <a:solidFill>
              <a:srgbClr val="2EAD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5664" y="2807208"/>
            <a:ext cx="4782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verify_finalがprojectと合わない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55664" y="3108960"/>
            <a:ext cx="47823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`.agent/project.json` のhooksをCI/release gateに合わせる。workflow文書へ直書きしない。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685800" y="41148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E6FAFA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" y="4224528"/>
            <a:ext cx="4782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validate-docsが失敗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32104" y="4526280"/>
            <a:ext cx="47823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document markerと必須sectionを確認。N/Aなら理由を明記しsection自体は残す。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309360" y="41148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4DA"/>
          </a:solidFill>
          <a:ln w="12700">
            <a:solidFill>
              <a:srgbClr val="F2A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55664" y="4224528"/>
            <a:ext cx="4782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1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update-templateがconflict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55664" y="4526280"/>
            <a:ext cx="4782312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`.incoming-template` とlocal差分を比較し、project overrideを保持して手動merge。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5669280"/>
            <a:ext cx="10058400" cy="658368"/>
          </a:xfrm>
          <a:prstGeom prst="roundRect">
            <a:avLst>
              <a:gd name="adj" fmla="val 4167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78815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./scripts/agent/agent-context.sh &lt;issue&gt;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--short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.agent/project.json</a:t>
            </a:r>
            <a:endParaRPr lang="en-US" sz="8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OPERATING PRINCIPLES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運用で迷ったときの5原則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細かなルールを忘れても、この5点を守ればworkflowの意図を崩しにくい。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" y="1325880"/>
            <a:ext cx="438912" cy="438912"/>
          </a:xfrm>
          <a:prstGeom prst="rect">
            <a:avLst/>
          </a:prstGeom>
          <a:solidFill>
            <a:srgbClr val="1E64D8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1325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1316736"/>
            <a:ext cx="6217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リポジトリ変更はIssue所有を先に固定。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868680" y="2240280"/>
            <a:ext cx="438912" cy="438912"/>
          </a:xfrm>
          <a:prstGeom prst="rect">
            <a:avLst/>
          </a:prstGeom>
          <a:solidFill>
            <a:srgbClr val="6C4EE6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240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 before code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63440" y="2231136"/>
            <a:ext cx="6217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外部契約は実装前にspecへ。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868680" y="3154680"/>
            <a:ext cx="438912" cy="438912"/>
          </a:xfrm>
          <a:prstGeom prst="rect">
            <a:avLst/>
          </a:prstGeom>
          <a:solidFill>
            <a:srgbClr val="00A6A6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3154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Design before material decisions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3145536"/>
            <a:ext cx="6217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重大な構造判断を実装中に勝手に決めない。</a:t>
            </a:r>
            <a:endParaRPr lang="en-US" sz="1120" dirty="0"/>
          </a:p>
        </p:txBody>
      </p:sp>
      <p:sp>
        <p:nvSpPr>
          <p:cNvPr id="17" name="Text 15"/>
          <p:cNvSpPr/>
          <p:nvPr/>
        </p:nvSpPr>
        <p:spPr>
          <a:xfrm>
            <a:off x="868680" y="4069080"/>
            <a:ext cx="438912" cy="438912"/>
          </a:xfrm>
          <a:prstGeom prst="rect">
            <a:avLst/>
          </a:prstGeom>
          <a:solidFill>
            <a:srgbClr val="2EAD65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0690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Evidence on committed HEAD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0" y="4059936"/>
            <a:ext cx="6217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レビューはcommit済み差分と検証結果へ固定。</a:t>
            </a:r>
            <a:endParaRPr lang="en-US" sz="1120" dirty="0"/>
          </a:p>
        </p:txBody>
      </p:sp>
      <p:sp>
        <p:nvSpPr>
          <p:cNvPr id="20" name="Text 18"/>
          <p:cNvSpPr/>
          <p:nvPr/>
        </p:nvSpPr>
        <p:spPr>
          <a:xfrm>
            <a:off x="868680" y="4983480"/>
            <a:ext cx="438912" cy="438912"/>
          </a:xfrm>
          <a:prstGeom prst="rect">
            <a:avLst/>
          </a:prstGeom>
          <a:solidFill>
            <a:srgbClr val="F2A100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9834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Project policy as data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63440" y="4974336"/>
            <a:ext cx="6217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技術固有コマンドはprofile/hookへ分離。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914400" y="5897880"/>
            <a:ext cx="10058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このテンプレートの目的は「AIを自由に動かす」ことではなく、「AIが高速に動いても、重要な判断と検証を取りこぼさない」こと。</a:t>
            </a:r>
            <a:endParaRPr lang="en-US" sz="11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64D8"/>
          </a:solidFill>
          <a:ln w="12700">
            <a:solidFill>
              <a:srgbClr val="1E64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6459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SUMMARY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02920" y="438912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まとめ：AIエージェント開発をプロジェクト資産にする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896112"/>
            <a:ext cx="9875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このテンプレートは「AIに任せる」ための雰囲気ではなく、失敗を検出できる運用の土台。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567160" y="6473952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890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0120" y="13075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132588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導入効果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0" y="1325880"/>
            <a:ext cx="7543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手戻り・文書ズレ・レビュー漏れ・再開コストを削減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21305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214884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導入手順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2148840"/>
            <a:ext cx="7543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init-project → setup-github → hooks調整 → 初回Issue/PR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29535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29718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更新手順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108960" y="2971800"/>
            <a:ext cx="7543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managed manifestに基づき、既存プロジェクトへ安全反映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0120" y="377647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7947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仕様/設計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08960" y="3794760"/>
            <a:ext cx="7543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spec/design/statusを分離し、テンプレートとvalidateで品質を固定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60120" y="45994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AD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6177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運用原則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108960" y="4617720"/>
            <a:ext cx="7543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55A6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Issue-first、HEAD-bound self-review、技術policyはprofile化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5577840"/>
            <a:ext cx="10058400" cy="822960"/>
          </a:xfrm>
          <a:prstGeom prst="roundRect">
            <a:avLst>
              <a:gd name="adj" fmla="val 3333"/>
            </a:avLst>
          </a:prstGeom>
          <a:solidFill>
            <a:srgbClr val="0E1726"/>
          </a:solidFill>
          <a:ln w="12700">
            <a:solidFill>
              <a:srgbClr val="202A3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5696712"/>
            <a:ext cx="9784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./scripts/agent/init-project.sh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./scripts/agent/setup-github.sh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./scripts/agent/new-doc.sh specification &lt;area&gt;/&lt;name&gt; --issue &lt;n&gt;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./scripts/agent/update-template.sh --check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Project template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Project Template</dc:title>
  <dc:subject>AI agent project workflow template introduction</dc:subject>
  <dc:creator>AI Agent Project Template</dc:creator>
  <cp:lastModifiedBy>AI Agent Project Template</cp:lastModifiedBy>
  <cp:revision>1</cp:revision>
  <dcterms:created xsi:type="dcterms:W3CDTF">2026-09-26T05:33:00Z</dcterms:created>
  <dcterms:modified xsi:type="dcterms:W3CDTF">2026-09-26T05:33:00Z</dcterms:modified>
</cp:coreProperties>
</file>